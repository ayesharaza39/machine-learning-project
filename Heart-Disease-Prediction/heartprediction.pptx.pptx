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7" r:id="rId1"/>
  </p:sldMasterIdLst>
  <p:notesMasterIdLst>
    <p:notesMasterId r:id="rId12"/>
  </p:notesMasterIdLst>
  <p:sldIdLst>
    <p:sldId id="256" r:id="rId2"/>
    <p:sldId id="257" r:id="rId3"/>
    <p:sldId id="258" r:id="rId4"/>
    <p:sldId id="259" r:id="rId5"/>
    <p:sldId id="260" r:id="rId6"/>
    <p:sldId id="265" r:id="rId7"/>
    <p:sldId id="261" r:id="rId8"/>
    <p:sldId id="262" r:id="rId9"/>
    <p:sldId id="264" r:id="rId10"/>
    <p:sldId id="26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237857F-7CAF-4601-A475-247F915754FA}">
          <p14:sldIdLst>
            <p14:sldId id="256"/>
          </p14:sldIdLst>
        </p14:section>
        <p14:section name="Untitled Section" id="{F8103690-63D0-419E-93B6-B47D429FDCAF}">
          <p14:sldIdLst>
            <p14:sldId id="257"/>
            <p14:sldId id="258"/>
            <p14:sldId id="259"/>
            <p14:sldId id="260"/>
            <p14:sldId id="265"/>
            <p14:sldId id="261"/>
          </p14:sldIdLst>
        </p14:section>
        <p14:section name="Untitled Section" id="{A0D0B981-E6DB-4168-A621-741027FF6790}">
          <p14:sldIdLst>
            <p14:sldId id="262"/>
            <p14:sldId id="264"/>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0" d="100"/>
          <a:sy n="60" d="100"/>
        </p:scale>
        <p:origin x="76" y="5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3DC18E-F3FC-4AFE-AEF1-EAEED65695E3}" type="datetimeFigureOut">
              <a:rPr lang="en-IN" smtClean="0"/>
              <a:t>20-03-2026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6098FC-AEBA-4C0C-A76C-023E22FDDE92}" type="slidenum">
              <a:rPr lang="en-IN" smtClean="0"/>
              <a:t>‹#›</a:t>
            </a:fld>
            <a:endParaRPr lang="en-IN"/>
          </a:p>
        </p:txBody>
      </p:sp>
    </p:spTree>
    <p:extLst>
      <p:ext uri="{BB962C8B-B14F-4D97-AF65-F5344CB8AC3E}">
        <p14:creationId xmlns:p14="http://schemas.microsoft.com/office/powerpoint/2010/main" val="636973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a:p>
            <a:endParaRPr lang="en-IN" dirty="0"/>
          </a:p>
        </p:txBody>
      </p:sp>
      <p:sp>
        <p:nvSpPr>
          <p:cNvPr id="4" name="Slide Number Placeholder 3"/>
          <p:cNvSpPr>
            <a:spLocks noGrp="1"/>
          </p:cNvSpPr>
          <p:nvPr>
            <p:ph type="sldNum" sz="quarter" idx="5"/>
          </p:nvPr>
        </p:nvSpPr>
        <p:spPr/>
        <p:txBody>
          <a:bodyPr/>
          <a:lstStyle/>
          <a:p>
            <a:fld id="{D76098FC-AEBA-4C0C-A76C-023E22FDDE92}" type="slidenum">
              <a:rPr lang="en-IN" smtClean="0"/>
              <a:t>1</a:t>
            </a:fld>
            <a:endParaRPr lang="en-IN"/>
          </a:p>
        </p:txBody>
      </p:sp>
    </p:spTree>
    <p:extLst>
      <p:ext uri="{BB962C8B-B14F-4D97-AF65-F5344CB8AC3E}">
        <p14:creationId xmlns:p14="http://schemas.microsoft.com/office/powerpoint/2010/main" val="1086692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76098FC-AEBA-4C0C-A76C-023E22FDDE92}" type="slidenum">
              <a:rPr lang="en-IN" smtClean="0"/>
              <a:t>2</a:t>
            </a:fld>
            <a:endParaRPr lang="en-IN"/>
          </a:p>
        </p:txBody>
      </p:sp>
    </p:spTree>
    <p:extLst>
      <p:ext uri="{BB962C8B-B14F-4D97-AF65-F5344CB8AC3E}">
        <p14:creationId xmlns:p14="http://schemas.microsoft.com/office/powerpoint/2010/main" val="190003881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920834" y="429969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920834" y="1484779"/>
            <a:ext cx="10222992" cy="274320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IN"/>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IN"/>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5000"/>
              </a:lnSpc>
              <a:defRPr sz="7200" b="1" cap="none"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2B7DFB-11A7-4A61-B7E4-DBE5DBDB13B6}" type="datetimeFigureOut">
              <a:rPr lang="en-IN" smtClean="0"/>
              <a:t>20-03-2026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b="1"/>
            </a:lvl1pPr>
          </a:lstStyle>
          <a:p>
            <a:fld id="{9621B7C5-265A-412E-9406-540E49BBF6E7}" type="slidenum">
              <a:rPr lang="en-IN" smtClean="0"/>
              <a:t>‹#›</a:t>
            </a:fld>
            <a:endParaRPr lang="en-IN"/>
          </a:p>
        </p:txBody>
      </p:sp>
    </p:spTree>
    <p:extLst>
      <p:ext uri="{BB962C8B-B14F-4D97-AF65-F5344CB8AC3E}">
        <p14:creationId xmlns:p14="http://schemas.microsoft.com/office/powerpoint/2010/main" val="1303826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2B7DFB-11A7-4A61-B7E4-DBE5DBDB13B6}" type="datetimeFigureOut">
              <a:rPr lang="en-IN" smtClean="0"/>
              <a:t>20-03-2026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21B7C5-265A-412E-9406-540E49BBF6E7}" type="slidenum">
              <a:rPr lang="en-IN" smtClean="0"/>
              <a:t>‹#›</a:t>
            </a:fld>
            <a:endParaRPr lang="en-IN"/>
          </a:p>
        </p:txBody>
      </p:sp>
    </p:spTree>
    <p:extLst>
      <p:ext uri="{BB962C8B-B14F-4D97-AF65-F5344CB8AC3E}">
        <p14:creationId xmlns:p14="http://schemas.microsoft.com/office/powerpoint/2010/main" val="655566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5000"/>
              </a:lnSpc>
              <a:defRPr sz="7200" b="1"/>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552B7DFB-11A7-4A61-B7E4-DBE5DBDB13B6}" type="datetimeFigureOut">
              <a:rPr lang="en-IN" smtClean="0"/>
              <a:t>20-03-2026</a:t>
            </a:fld>
            <a:endParaRPr lang="en-IN"/>
          </a:p>
        </p:txBody>
      </p:sp>
      <p:sp>
        <p:nvSpPr>
          <p:cNvPr id="5" name="Footer Placeholder 4"/>
          <p:cNvSpPr>
            <a:spLocks noGrp="1"/>
          </p:cNvSpPr>
          <p:nvPr>
            <p:ph type="ftr" sz="quarter" idx="11"/>
          </p:nvPr>
        </p:nvSpPr>
        <p:spPr>
          <a:xfrm>
            <a:off x="2182708" y="6272784"/>
            <a:ext cx="6327648" cy="365125"/>
          </a:xfrm>
        </p:spPr>
        <p:txBody>
          <a:bodyPr/>
          <a:lstStyle/>
          <a:p>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9621B7C5-265A-412E-9406-540E49BBF6E7}" type="slidenum">
              <a:rPr lang="en-IN" smtClean="0"/>
              <a:t>‹#›</a:t>
            </a:fld>
            <a:endParaRPr lang="en-IN"/>
          </a:p>
        </p:txBody>
      </p:sp>
    </p:spTree>
    <p:extLst>
      <p:ext uri="{BB962C8B-B14F-4D97-AF65-F5344CB8AC3E}">
        <p14:creationId xmlns:p14="http://schemas.microsoft.com/office/powerpoint/2010/main" val="3469612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52B7DFB-11A7-4A61-B7E4-DBE5DBDB13B6}" type="datetimeFigureOut">
              <a:rPr lang="en-IN" smtClean="0"/>
              <a:t>20-03-2026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21B7C5-265A-412E-9406-540E49BBF6E7}" type="slidenum">
              <a:rPr lang="en-IN" smtClean="0"/>
              <a:t>‹#›</a:t>
            </a:fld>
            <a:endParaRPr lang="en-IN"/>
          </a:p>
        </p:txBody>
      </p:sp>
    </p:spTree>
    <p:extLst>
      <p:ext uri="{BB962C8B-B14F-4D97-AF65-F5344CB8AC3E}">
        <p14:creationId xmlns:p14="http://schemas.microsoft.com/office/powerpoint/2010/main" val="1144799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2B7DFB-11A7-4A61-B7E4-DBE5DBDB13B6}" type="datetimeFigureOut">
              <a:rPr lang="en-IN" smtClean="0"/>
              <a:t>20-03-2026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621B7C5-265A-412E-9406-540E49BBF6E7}" type="slidenum">
              <a:rPr lang="en-IN" smtClean="0"/>
              <a:t>‹#›</a:t>
            </a:fld>
            <a:endParaRPr lang="en-IN"/>
          </a:p>
        </p:txBody>
      </p:sp>
    </p:spTree>
    <p:extLst>
      <p:ext uri="{BB962C8B-B14F-4D97-AF65-F5344CB8AC3E}">
        <p14:creationId xmlns:p14="http://schemas.microsoft.com/office/powerpoint/2010/main" val="2941861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52B7DFB-11A7-4A61-B7E4-DBE5DBDB13B6}" type="datetimeFigureOut">
              <a:rPr lang="en-IN" smtClean="0"/>
              <a:t>20-03-2026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621B7C5-265A-412E-9406-540E49BBF6E7}" type="slidenum">
              <a:rPr lang="en-IN" smtClean="0"/>
              <a:t>‹#›</a:t>
            </a:fld>
            <a:endParaRPr lang="en-IN"/>
          </a:p>
        </p:txBody>
      </p:sp>
    </p:spTree>
    <p:extLst>
      <p:ext uri="{BB962C8B-B14F-4D97-AF65-F5344CB8AC3E}">
        <p14:creationId xmlns:p14="http://schemas.microsoft.com/office/powerpoint/2010/main" val="316716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2B7DFB-11A7-4A61-B7E4-DBE5DBDB13B6}" type="datetimeFigureOut">
              <a:rPr lang="en-IN" smtClean="0"/>
              <a:t>20-03-2026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621B7C5-265A-412E-9406-540E49BBF6E7}" type="slidenum">
              <a:rPr lang="en-IN" smtClean="0"/>
              <a:t>‹#›</a:t>
            </a:fld>
            <a:endParaRPr lang="en-IN"/>
          </a:p>
        </p:txBody>
      </p:sp>
    </p:spTree>
    <p:extLst>
      <p:ext uri="{BB962C8B-B14F-4D97-AF65-F5344CB8AC3E}">
        <p14:creationId xmlns:p14="http://schemas.microsoft.com/office/powerpoint/2010/main" val="3863978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2B7DFB-11A7-4A61-B7E4-DBE5DBDB13B6}" type="datetimeFigureOut">
              <a:rPr lang="en-IN" smtClean="0"/>
              <a:t>20-03-2026</a:t>
            </a:fld>
            <a:endParaRPr lang="en-IN"/>
          </a:p>
        </p:txBody>
      </p:sp>
      <p:sp>
        <p:nvSpPr>
          <p:cNvPr id="6" name="Footer Placeholder 5"/>
          <p:cNvSpPr>
            <a:spLocks noGrp="1"/>
          </p:cNvSpPr>
          <p:nvPr>
            <p:ph type="ftr" sz="quarter" idx="11"/>
          </p:nvPr>
        </p:nvSpPr>
        <p:spPr/>
        <p:txBody>
          <a:bodyPr/>
          <a:lstStyle/>
          <a:p>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9621B7C5-265A-412E-9406-540E49BBF6E7}" type="slidenum">
              <a:rPr lang="en-IN" smtClean="0"/>
              <a:t>‹#›</a:t>
            </a:fld>
            <a:endParaRPr lang="en-IN"/>
          </a:p>
        </p:txBody>
      </p:sp>
    </p:spTree>
    <p:extLst>
      <p:ext uri="{BB962C8B-B14F-4D97-AF65-F5344CB8AC3E}">
        <p14:creationId xmlns:p14="http://schemas.microsoft.com/office/powerpoint/2010/main" val="1215409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2B7DFB-11A7-4A61-B7E4-DBE5DBDB13B6}" type="datetimeFigureOut">
              <a:rPr lang="en-IN" smtClean="0"/>
              <a:t>20-03-2026</a:t>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9621B7C5-265A-412E-9406-540E49BBF6E7}" type="slidenum">
              <a:rPr lang="en-IN" smtClean="0"/>
              <a:t>‹#›</a:t>
            </a:fld>
            <a:endParaRPr lang="en-IN"/>
          </a:p>
        </p:txBody>
      </p:sp>
    </p:spTree>
    <p:extLst>
      <p:ext uri="{BB962C8B-B14F-4D97-AF65-F5344CB8AC3E}">
        <p14:creationId xmlns:p14="http://schemas.microsoft.com/office/powerpoint/2010/main" val="3502424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2B7DFB-11A7-4A61-B7E4-DBE5DBDB13B6}" type="datetimeFigureOut">
              <a:rPr lang="en-IN" smtClean="0"/>
              <a:t>20-03-2026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21B7C5-265A-412E-9406-540E49BBF6E7}" type="slidenum">
              <a:rPr lang="en-IN" smtClean="0"/>
              <a:t>‹#›</a:t>
            </a:fld>
            <a:endParaRPr lang="en-IN"/>
          </a:p>
        </p:txBody>
      </p:sp>
    </p:spTree>
    <p:extLst>
      <p:ext uri="{BB962C8B-B14F-4D97-AF65-F5344CB8AC3E}">
        <p14:creationId xmlns:p14="http://schemas.microsoft.com/office/powerpoint/2010/main" val="25822723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2B7DFB-11A7-4A61-B7E4-DBE5DBDB13B6}" type="datetimeFigureOut">
              <a:rPr lang="en-IN" smtClean="0"/>
              <a:t>20-03-2026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21B7C5-265A-412E-9406-540E49BBF6E7}" type="slidenum">
              <a:rPr lang="en-IN" smtClean="0"/>
              <a:t>‹#›</a:t>
            </a:fld>
            <a:endParaRPr lang="en-IN"/>
          </a:p>
        </p:txBody>
      </p:sp>
    </p:spTree>
    <p:extLst>
      <p:ext uri="{BB962C8B-B14F-4D97-AF65-F5344CB8AC3E}">
        <p14:creationId xmlns:p14="http://schemas.microsoft.com/office/powerpoint/2010/main" val="3418459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552B7DFB-11A7-4A61-B7E4-DBE5DBDB13B6}" type="datetimeFigureOut">
              <a:rPr lang="en-IN" smtClean="0"/>
              <a:t>20-03-2026</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IN"/>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n-lt"/>
              </a:defRPr>
            </a:lvl1pPr>
          </a:lstStyle>
          <a:p>
            <a:fld id="{9621B7C5-265A-412E-9406-540E49BBF6E7}" type="slidenum">
              <a:rPr lang="en-IN" smtClean="0"/>
              <a:t>‹#›</a:t>
            </a:fld>
            <a:endParaRPr lang="en-IN"/>
          </a:p>
        </p:txBody>
      </p:sp>
    </p:spTree>
    <p:extLst>
      <p:ext uri="{BB962C8B-B14F-4D97-AF65-F5344CB8AC3E}">
        <p14:creationId xmlns:p14="http://schemas.microsoft.com/office/powerpoint/2010/main" val="929826970"/>
      </p:ext>
    </p:extLst>
  </p:cSld>
  <p:clrMap bg1="lt1" tx1="dk1" bg2="lt2" tx2="dk2" accent1="accent1" accent2="accent2" accent3="accent3" accent4="accent4" accent5="accent5" accent6="accent6" hlink="hlink" folHlink="folHlink"/>
  <p:sldLayoutIdLst>
    <p:sldLayoutId id="2147483918" r:id="rId1"/>
    <p:sldLayoutId id="2147483919" r:id="rId2"/>
    <p:sldLayoutId id="2147483920" r:id="rId3"/>
    <p:sldLayoutId id="2147483921" r:id="rId4"/>
    <p:sldLayoutId id="2147483922" r:id="rId5"/>
    <p:sldLayoutId id="2147483923" r:id="rId6"/>
    <p:sldLayoutId id="2147483924" r:id="rId7"/>
    <p:sldLayoutId id="2147483925" r:id="rId8"/>
    <p:sldLayoutId id="2147483926" r:id="rId9"/>
    <p:sldLayoutId id="2147483927" r:id="rId10"/>
    <p:sldLayoutId id="2147483928" r:id="rId11"/>
  </p:sldLayoutIdLst>
  <p:txStyles>
    <p:titleStyle>
      <a:lvl1pPr algn="l" defTabSz="914400" rtl="0" eaLnBrk="1" latinLnBrk="0" hangingPunct="1">
        <a:lnSpc>
          <a:spcPct val="90000"/>
        </a:lnSpc>
        <a:spcBef>
          <a:spcPct val="0"/>
        </a:spcBef>
        <a:buNone/>
        <a:defRPr sz="4800" b="1" kern="1200" cap="none"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hyperlink" Target="https://creativecommons.org/licenses/by/3.0/" TargetMode="External"/><Relationship Id="rId4" Type="http://schemas.openxmlformats.org/officeDocument/2006/relationships/hyperlink" Target="https://www.scipod.global/going-with-the-flow-new-methods-for-treating-cardiovascular-disease-dr-york-hsiang-university-of-british-columbia-vancouver/"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hdprediction.commons.gc.cuny.edu/2024/12/28/exploratory-data-analysis-eda-on-x_train-cleveland-only/" TargetMode="External"/><Relationship Id="rId2" Type="http://schemas.openxmlformats.org/officeDocument/2006/relationships/image" Target="../media/image6.png"/><Relationship Id="rId1" Type="http://schemas.openxmlformats.org/officeDocument/2006/relationships/slideLayout" Target="../slideLayouts/slideLayout9.xml"/><Relationship Id="rId4" Type="http://schemas.openxmlformats.org/officeDocument/2006/relationships/hyperlink" Target="https://creativecommons.org/licenses/by-nc-sa/3.0/"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7.png"/><Relationship Id="rId1" Type="http://schemas.openxmlformats.org/officeDocument/2006/relationships/slideLayout" Target="../slideLayouts/slideLayout8.xml"/><Relationship Id="rId5" Type="http://schemas.openxmlformats.org/officeDocument/2006/relationships/hyperlink" Target="https://creativecommons.org/licenses/by/3.0/" TargetMode="External"/><Relationship Id="rId4" Type="http://schemas.openxmlformats.org/officeDocument/2006/relationships/hyperlink" Target="https://codershood.info/2019/01/01/machine-learning-logistic-regression-in-python-with-an-example/"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EC243-6CE0-BE0C-08B5-B10BD3D2B39D}"/>
              </a:ext>
            </a:extLst>
          </p:cNvPr>
          <p:cNvSpPr>
            <a:spLocks noGrp="1"/>
          </p:cNvSpPr>
          <p:nvPr>
            <p:ph type="ctrTitle"/>
          </p:nvPr>
        </p:nvSpPr>
        <p:spPr>
          <a:xfrm>
            <a:off x="1469572" y="1447800"/>
            <a:ext cx="9448800" cy="2407518"/>
          </a:xfrm>
        </p:spPr>
        <p:txBody>
          <a:bodyPr>
            <a:normAutofit/>
          </a:bodyPr>
          <a:lstStyle/>
          <a:p>
            <a:pPr algn="ctr"/>
            <a:r>
              <a:rPr lang="en-IN" b="1" u="sng" dirty="0">
                <a:latin typeface="Baskerville Old Face" panose="02020602080505020303" pitchFamily="18" charset="0"/>
              </a:rPr>
              <a:t>Heart disease prediction</a:t>
            </a:r>
          </a:p>
        </p:txBody>
      </p:sp>
      <p:sp>
        <p:nvSpPr>
          <p:cNvPr id="3" name="Subtitle 2">
            <a:extLst>
              <a:ext uri="{FF2B5EF4-FFF2-40B4-BE49-F238E27FC236}">
                <a16:creationId xmlns:a16="http://schemas.microsoft.com/office/drawing/2014/main" id="{A0AE5DE9-DDC6-EB43-8C95-A7C8A24E7BB1}"/>
              </a:ext>
            </a:extLst>
          </p:cNvPr>
          <p:cNvSpPr>
            <a:spLocks noGrp="1"/>
          </p:cNvSpPr>
          <p:nvPr>
            <p:ph type="subTitle" idx="1"/>
          </p:nvPr>
        </p:nvSpPr>
        <p:spPr>
          <a:xfrm rot="10800000" flipV="1">
            <a:off x="1175657" y="3777344"/>
            <a:ext cx="9035143" cy="1524000"/>
          </a:xfrm>
        </p:spPr>
        <p:txBody>
          <a:bodyPr>
            <a:normAutofit fontScale="25000" lnSpcReduction="20000"/>
          </a:bodyPr>
          <a:lstStyle/>
          <a:p>
            <a:pPr algn="ctr"/>
            <a:r>
              <a:rPr lang="en-IN" sz="11200" dirty="0">
                <a:latin typeface="Book Antiqua" panose="02040602050305030304" pitchFamily="18" charset="0"/>
              </a:rPr>
              <a:t>USING MACHINE LEARNING </a:t>
            </a:r>
          </a:p>
          <a:p>
            <a:pPr algn="ctr"/>
            <a:endParaRPr lang="en-IN" sz="2800" i="1" dirty="0">
              <a:latin typeface="Book Antiqua" panose="02040602050305030304" pitchFamily="18" charset="0"/>
            </a:endParaRPr>
          </a:p>
          <a:p>
            <a:pPr algn="ctr"/>
            <a:endParaRPr lang="en-IN" sz="2800" i="1" dirty="0">
              <a:latin typeface="Book Antiqua" panose="02040602050305030304" pitchFamily="18" charset="0"/>
            </a:endParaRPr>
          </a:p>
          <a:p>
            <a:r>
              <a:rPr lang="en-IN" sz="8000" b="1" i="1" dirty="0">
                <a:latin typeface="+mj-lt"/>
              </a:rPr>
              <a:t>PROJECT BY:</a:t>
            </a:r>
          </a:p>
          <a:p>
            <a:r>
              <a:rPr lang="en-IN" sz="8000" b="1" i="1" dirty="0">
                <a:latin typeface="+mj-lt"/>
              </a:rPr>
              <a:t>Ayesha Raza</a:t>
            </a:r>
          </a:p>
          <a:p>
            <a:r>
              <a:rPr lang="en-IN" sz="8000" b="1" i="1" dirty="0" err="1">
                <a:latin typeface="+mj-lt"/>
              </a:rPr>
              <a:t>Naviotech</a:t>
            </a:r>
            <a:r>
              <a:rPr lang="en-IN" sz="8000" b="1" i="1" dirty="0">
                <a:latin typeface="+mj-lt"/>
              </a:rPr>
              <a:t> solutions </a:t>
            </a:r>
            <a:r>
              <a:rPr lang="en-IN" sz="8000" b="1" i="1" dirty="0" err="1">
                <a:latin typeface="+mj-lt"/>
              </a:rPr>
              <a:t>Pvt.Ltd</a:t>
            </a:r>
            <a:r>
              <a:rPr lang="en-IN" sz="8000" b="1" i="1" dirty="0">
                <a:latin typeface="+mj-lt"/>
              </a:rPr>
              <a:t>.</a:t>
            </a:r>
          </a:p>
        </p:txBody>
      </p:sp>
    </p:spTree>
    <p:extLst>
      <p:ext uri="{BB962C8B-B14F-4D97-AF65-F5344CB8AC3E}">
        <p14:creationId xmlns:p14="http://schemas.microsoft.com/office/powerpoint/2010/main" val="238679211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22FA4-537E-325C-C9B9-791D03493A7D}"/>
              </a:ext>
            </a:extLst>
          </p:cNvPr>
          <p:cNvSpPr>
            <a:spLocks noGrp="1"/>
          </p:cNvSpPr>
          <p:nvPr>
            <p:ph type="title"/>
          </p:nvPr>
        </p:nvSpPr>
        <p:spPr>
          <a:xfrm>
            <a:off x="8576113" y="683258"/>
            <a:ext cx="3200400" cy="987155"/>
          </a:xfrm>
        </p:spPr>
        <p:txBody>
          <a:bodyPr/>
          <a:lstStyle/>
          <a:p>
            <a:r>
              <a:rPr lang="en-IN" dirty="0"/>
              <a:t>Introduction</a:t>
            </a:r>
          </a:p>
        </p:txBody>
      </p:sp>
      <p:sp>
        <p:nvSpPr>
          <p:cNvPr id="3" name="Content Placeholder 2">
            <a:extLst>
              <a:ext uri="{FF2B5EF4-FFF2-40B4-BE49-F238E27FC236}">
                <a16:creationId xmlns:a16="http://schemas.microsoft.com/office/drawing/2014/main" id="{6C0A2EE9-895D-37E4-42CF-620C15EB7341}"/>
              </a:ext>
            </a:extLst>
          </p:cNvPr>
          <p:cNvSpPr>
            <a:spLocks noGrp="1"/>
          </p:cNvSpPr>
          <p:nvPr>
            <p:ph idx="1"/>
          </p:nvPr>
        </p:nvSpPr>
        <p:spPr>
          <a:xfrm>
            <a:off x="740229" y="918972"/>
            <a:ext cx="6711696" cy="5020056"/>
          </a:xfrm>
        </p:spPr>
        <p:txBody>
          <a:bodyPr>
            <a:normAutofit fontScale="85000" lnSpcReduction="20000"/>
          </a:bodyPr>
          <a:lstStyle/>
          <a:p>
            <a:r>
              <a:rPr lang="en-US" sz="2100" dirty="0">
                <a:latin typeface="Century" panose="02040604050505020304" pitchFamily="18" charset="0"/>
              </a:rPr>
              <a:t>disease remains one of the leading causes of death worldwide, affecting millions of people each year. It includes a range of conditions such as coronary artery disease, heart attacks, and other cardiovascular disorders. Early detection and prevention are crucial to reducing the risk and improving patient outcomes.</a:t>
            </a:r>
          </a:p>
          <a:p>
            <a:r>
              <a:rPr lang="en-US" sz="2100" dirty="0">
                <a:latin typeface="Century" panose="02040604050505020304" pitchFamily="18" charset="0"/>
              </a:rPr>
              <a:t>With the rapid growth of technology and healthcare data, machine learning and data analysis have become powerful tools in predicting heart disease. By analyzing factors such as age, blood pressure, cholesterol levels, and lifestyle habits, predictive models can help identify individuals at high risk before serious complications occur.</a:t>
            </a:r>
          </a:p>
          <a:p>
            <a:r>
              <a:rPr lang="en-US" sz="2100" dirty="0">
                <a:latin typeface="Century" panose="02040604050505020304" pitchFamily="18" charset="0"/>
              </a:rPr>
              <a:t>This project focuses on developing a heart disease prediction system using data-driven techniques. The aim is to assist healthcare professionals in making faster and more accurate decisions, ultimately improving patient care and saving lives</a:t>
            </a:r>
          </a:p>
          <a:p>
            <a:r>
              <a:rPr lang="en-IN" sz="2100" dirty="0">
                <a:latin typeface="Century" panose="02040604050505020304" pitchFamily="18" charset="0"/>
              </a:rPr>
              <a:t>The main aim of THE HEART DISEASE PREDICTION is to develop a model that can </a:t>
            </a:r>
            <a:r>
              <a:rPr lang="en-IN" sz="2100" dirty="0" err="1">
                <a:latin typeface="Century" panose="02040604050505020304" pitchFamily="18" charset="0"/>
              </a:rPr>
              <a:t>analyze</a:t>
            </a:r>
            <a:r>
              <a:rPr lang="en-IN" sz="2100" dirty="0">
                <a:latin typeface="Century" panose="02040604050505020304" pitchFamily="18" charset="0"/>
              </a:rPr>
              <a:t> patient data and predict whether a person is likely to have a heart </a:t>
            </a:r>
            <a:r>
              <a:rPr lang="en-IN" sz="2100" dirty="0" err="1">
                <a:latin typeface="Century" panose="02040604050505020304" pitchFamily="18" charset="0"/>
              </a:rPr>
              <a:t>disease.The</a:t>
            </a:r>
            <a:r>
              <a:rPr lang="en-IN" sz="2100" dirty="0">
                <a:latin typeface="Century" panose="02040604050505020304" pitchFamily="18" charset="0"/>
              </a:rPr>
              <a:t> system can support healthcare </a:t>
            </a:r>
            <a:r>
              <a:rPr lang="en-IN" sz="2100" dirty="0" err="1">
                <a:latin typeface="Century" panose="02040604050505020304" pitchFamily="18" charset="0"/>
              </a:rPr>
              <a:t>proffessionals</a:t>
            </a:r>
            <a:r>
              <a:rPr lang="en-IN" sz="2100" dirty="0">
                <a:latin typeface="Century" panose="02040604050505020304" pitchFamily="18" charset="0"/>
              </a:rPr>
              <a:t> in early </a:t>
            </a:r>
            <a:r>
              <a:rPr lang="en-IN" sz="2100" dirty="0" err="1">
                <a:latin typeface="Century" panose="02040604050505020304" pitchFamily="18" charset="0"/>
              </a:rPr>
              <a:t>diagnosis,improve</a:t>
            </a:r>
            <a:r>
              <a:rPr lang="en-IN" sz="2100" dirty="0">
                <a:latin typeface="Century" panose="02040604050505020304" pitchFamily="18" charset="0"/>
              </a:rPr>
              <a:t> treatment </a:t>
            </a:r>
            <a:r>
              <a:rPr lang="en-IN" sz="2100" dirty="0" err="1">
                <a:latin typeface="Century" panose="02040604050505020304" pitchFamily="18" charset="0"/>
              </a:rPr>
              <a:t>planning,ultimately</a:t>
            </a:r>
            <a:r>
              <a:rPr lang="en-IN" sz="2100" dirty="0">
                <a:latin typeface="Century" panose="02040604050505020304" pitchFamily="18" charset="0"/>
              </a:rPr>
              <a:t> help in saving lives</a:t>
            </a:r>
            <a:r>
              <a:rPr lang="en-IN" dirty="0"/>
              <a:t>.</a:t>
            </a:r>
          </a:p>
        </p:txBody>
      </p:sp>
      <p:sp>
        <p:nvSpPr>
          <p:cNvPr id="15" name="Text Placeholder 14">
            <a:extLst>
              <a:ext uri="{FF2B5EF4-FFF2-40B4-BE49-F238E27FC236}">
                <a16:creationId xmlns:a16="http://schemas.microsoft.com/office/drawing/2014/main" id="{8069F482-97D3-3D8D-DD7B-F1838D369B62}"/>
              </a:ext>
            </a:extLst>
          </p:cNvPr>
          <p:cNvSpPr>
            <a:spLocks noGrp="1"/>
          </p:cNvSpPr>
          <p:nvPr>
            <p:ph type="body" sz="half" idx="2"/>
          </p:nvPr>
        </p:nvSpPr>
        <p:spPr/>
        <p:txBody>
          <a:bodyPr/>
          <a:lstStyle/>
          <a:p>
            <a:endParaRPr lang="en-IN" dirty="0"/>
          </a:p>
        </p:txBody>
      </p:sp>
      <p:sp>
        <p:nvSpPr>
          <p:cNvPr id="5" name="Rectangle 2">
            <a:extLst>
              <a:ext uri="{FF2B5EF4-FFF2-40B4-BE49-F238E27FC236}">
                <a16:creationId xmlns:a16="http://schemas.microsoft.com/office/drawing/2014/main" id="{6D77A60D-DD85-514B-065C-D688DCBFCDBE}"/>
              </a:ext>
            </a:extLst>
          </p:cNvPr>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Rectangle 3">
            <a:extLst>
              <a:ext uri="{FF2B5EF4-FFF2-40B4-BE49-F238E27FC236}">
                <a16:creationId xmlns:a16="http://schemas.microsoft.com/office/drawing/2014/main" id="{C45E3B47-43E8-694D-C314-86FEEF385D59}"/>
              </a:ext>
            </a:extLst>
          </p:cNvPr>
          <p:cNvSpPr>
            <a:spLocks noChangeArrowheads="1"/>
          </p:cNvSpPr>
          <p:nvPr/>
        </p:nvSpPr>
        <p:spPr bwMode="auto">
          <a:xfrm>
            <a:off x="0" y="378510"/>
            <a:ext cx="31290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If</a:t>
            </a:r>
          </a:p>
        </p:txBody>
      </p:sp>
      <p:pic>
        <p:nvPicPr>
          <p:cNvPr id="20" name="Picture 19">
            <a:extLst>
              <a:ext uri="{FF2B5EF4-FFF2-40B4-BE49-F238E27FC236}">
                <a16:creationId xmlns:a16="http://schemas.microsoft.com/office/drawing/2014/main" id="{F0C9F53E-4521-D8A3-F3EA-BD3A908964F8}"/>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8549640" y="1670412"/>
            <a:ext cx="3413760" cy="4622435"/>
          </a:xfrm>
          <a:prstGeom prst="rect">
            <a:avLst/>
          </a:prstGeom>
        </p:spPr>
      </p:pic>
      <p:sp>
        <p:nvSpPr>
          <p:cNvPr id="21" name="TextBox 20">
            <a:extLst>
              <a:ext uri="{FF2B5EF4-FFF2-40B4-BE49-F238E27FC236}">
                <a16:creationId xmlns:a16="http://schemas.microsoft.com/office/drawing/2014/main" id="{9109EB31-6456-C219-F3AD-DE6EF241B777}"/>
              </a:ext>
            </a:extLst>
          </p:cNvPr>
          <p:cNvSpPr txBox="1"/>
          <p:nvPr/>
        </p:nvSpPr>
        <p:spPr>
          <a:xfrm>
            <a:off x="8607597" y="6792139"/>
            <a:ext cx="3137432" cy="230832"/>
          </a:xfrm>
          <a:prstGeom prst="rect">
            <a:avLst/>
          </a:prstGeom>
          <a:noFill/>
        </p:spPr>
        <p:txBody>
          <a:bodyPr wrap="square" rtlCol="0">
            <a:spAutoFit/>
          </a:bodyPr>
          <a:lstStyle/>
          <a:p>
            <a:r>
              <a:rPr lang="en-IN" sz="900">
                <a:hlinkClick r:id="rId4" tooltip="https://www.scipod.global/going-with-the-flow-new-methods-for-treating-cardiovascular-disease-dr-york-hsiang-university-of-british-columbia-vancouver/"/>
              </a:rPr>
              <a:t>This Photo</a:t>
            </a:r>
            <a:r>
              <a:rPr lang="en-IN" sz="900"/>
              <a:t> by Unknown Author is licensed under </a:t>
            </a:r>
            <a:r>
              <a:rPr lang="en-IN" sz="900">
                <a:hlinkClick r:id="rId5" tooltip="https://creativecommons.org/licenses/by/3.0/"/>
              </a:rPr>
              <a:t>CC BY</a:t>
            </a:r>
            <a:endParaRPr lang="en-IN" sz="900"/>
          </a:p>
        </p:txBody>
      </p:sp>
    </p:spTree>
    <p:extLst>
      <p:ext uri="{BB962C8B-B14F-4D97-AF65-F5344CB8AC3E}">
        <p14:creationId xmlns:p14="http://schemas.microsoft.com/office/powerpoint/2010/main" val="2957371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FB6E-BF1E-8104-30AA-D983BC5C7ACE}"/>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5CC22361-3E2F-6628-F6A9-333F45C5F268}"/>
              </a:ext>
            </a:extLst>
          </p:cNvPr>
          <p:cNvSpPr>
            <a:spLocks noGrp="1"/>
          </p:cNvSpPr>
          <p:nvPr>
            <p:ph idx="1"/>
          </p:nvPr>
        </p:nvSpPr>
        <p:spPr/>
        <p:txBody>
          <a:bodyPr>
            <a:normAutofit fontScale="47500" lnSpcReduction="20000"/>
          </a:bodyPr>
          <a:lstStyle/>
          <a:p>
            <a:r>
              <a:rPr lang="en-IN" sz="3600" dirty="0">
                <a:latin typeface="Century" panose="02040604050505020304" pitchFamily="18" charset="0"/>
              </a:rPr>
              <a:t>Develop a machine learning-based system to predict the presence of heart disease.</a:t>
            </a:r>
          </a:p>
          <a:p>
            <a:r>
              <a:rPr lang="en-IN" sz="3600" dirty="0">
                <a:latin typeface="Century" panose="02040604050505020304" pitchFamily="18" charset="0"/>
              </a:rPr>
              <a:t>Input data set contains clinical parameters such as age, sex, blood pressure, cholesterol,</a:t>
            </a:r>
          </a:p>
          <a:p>
            <a:r>
              <a:rPr lang="en-IN" sz="3600" dirty="0">
                <a:latin typeface="Century" panose="02040604050505020304" pitchFamily="18" charset="0"/>
              </a:rPr>
              <a:t> heart rate, etc.</a:t>
            </a:r>
          </a:p>
          <a:p>
            <a:r>
              <a:rPr lang="en-IN" sz="3600" dirty="0">
                <a:latin typeface="Century" panose="02040604050505020304" pitchFamily="18" charset="0"/>
              </a:rPr>
              <a:t>Perform data preprocessing(handling missing values , normalization, encoding</a:t>
            </a:r>
          </a:p>
          <a:p>
            <a:r>
              <a:rPr lang="en-IN" sz="3600" dirty="0">
                <a:latin typeface="Century" panose="02040604050505020304" pitchFamily="18" charset="0"/>
              </a:rPr>
              <a:t> categorical data).</a:t>
            </a:r>
          </a:p>
          <a:p>
            <a:r>
              <a:rPr lang="en-IN" sz="3600" dirty="0">
                <a:latin typeface="Century" panose="02040604050505020304" pitchFamily="18" charset="0"/>
              </a:rPr>
              <a:t>Identify and select important features affecting heart disease using feature selection</a:t>
            </a:r>
          </a:p>
          <a:p>
            <a:r>
              <a:rPr lang="en-IN" sz="3600" dirty="0">
                <a:latin typeface="Century" panose="02040604050505020304" pitchFamily="18" charset="0"/>
              </a:rPr>
              <a:t> techniques.</a:t>
            </a:r>
          </a:p>
          <a:p>
            <a:r>
              <a:rPr lang="en-IN" sz="3600" dirty="0">
                <a:latin typeface="Century" panose="02040604050505020304" pitchFamily="18" charset="0"/>
              </a:rPr>
              <a:t>Train and test multiple classification algorithm(</a:t>
            </a:r>
            <a:r>
              <a:rPr lang="en-IN" sz="3600" dirty="0" err="1">
                <a:latin typeface="Century" panose="02040604050505020304" pitchFamily="18" charset="0"/>
              </a:rPr>
              <a:t>eg</a:t>
            </a:r>
            <a:r>
              <a:rPr lang="en-IN" sz="3600" dirty="0">
                <a:latin typeface="Century" panose="02040604050505020304" pitchFamily="18" charset="0"/>
              </a:rPr>
              <a:t> : Logistic Regression ,Decision tree,</a:t>
            </a:r>
          </a:p>
          <a:p>
            <a:r>
              <a:rPr lang="en-IN" sz="3600" dirty="0">
                <a:latin typeface="Century" panose="02040604050505020304" pitchFamily="18" charset="0"/>
              </a:rPr>
              <a:t> Random Forest, SVM).</a:t>
            </a:r>
          </a:p>
          <a:p>
            <a:r>
              <a:rPr lang="en-IN" sz="3600" dirty="0">
                <a:latin typeface="Century" panose="02040604050505020304" pitchFamily="18" charset="0"/>
              </a:rPr>
              <a:t>Optimize model performance using hyperparameter tuning.</a:t>
            </a:r>
          </a:p>
          <a:p>
            <a:r>
              <a:rPr lang="en-IN" sz="3600" dirty="0">
                <a:latin typeface="Century" panose="02040604050505020304" pitchFamily="18" charset="0"/>
              </a:rPr>
              <a:t>Evaluate models using performance metrics such as accuracy , precision , recall, and </a:t>
            </a:r>
          </a:p>
          <a:p>
            <a:pPr marL="0" indent="0">
              <a:buNone/>
            </a:pPr>
            <a:r>
              <a:rPr lang="en-IN" sz="3600" dirty="0">
                <a:latin typeface="Century" panose="02040604050505020304" pitchFamily="18" charset="0"/>
              </a:rPr>
              <a:t>   F-1 score.</a:t>
            </a:r>
          </a:p>
          <a:p>
            <a:pPr marL="0" indent="0">
              <a:buNone/>
            </a:pPr>
            <a:endParaRPr lang="en-IN" dirty="0"/>
          </a:p>
        </p:txBody>
      </p:sp>
    </p:spTree>
    <p:extLst>
      <p:ext uri="{BB962C8B-B14F-4D97-AF65-F5344CB8AC3E}">
        <p14:creationId xmlns:p14="http://schemas.microsoft.com/office/powerpoint/2010/main" val="3665351578"/>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BC489-A753-A781-DFCA-C5EF287114AC}"/>
              </a:ext>
            </a:extLst>
          </p:cNvPr>
          <p:cNvSpPr>
            <a:spLocks noGrp="1"/>
          </p:cNvSpPr>
          <p:nvPr>
            <p:ph type="title"/>
          </p:nvPr>
        </p:nvSpPr>
        <p:spPr>
          <a:xfrm>
            <a:off x="1066800" y="121485"/>
            <a:ext cx="10058400" cy="1609344"/>
          </a:xfrm>
        </p:spPr>
        <p:txBody>
          <a:bodyPr/>
          <a:lstStyle/>
          <a:p>
            <a:r>
              <a:rPr lang="en-IN" dirty="0"/>
              <a:t>DATA PREPROCESSING</a:t>
            </a:r>
          </a:p>
        </p:txBody>
      </p:sp>
      <p:sp>
        <p:nvSpPr>
          <p:cNvPr id="3" name="Content Placeholder 2">
            <a:extLst>
              <a:ext uri="{FF2B5EF4-FFF2-40B4-BE49-F238E27FC236}">
                <a16:creationId xmlns:a16="http://schemas.microsoft.com/office/drawing/2014/main" id="{3D6A6EF1-2F69-1C33-BDDC-71D219E49D64}"/>
              </a:ext>
            </a:extLst>
          </p:cNvPr>
          <p:cNvSpPr>
            <a:spLocks noGrp="1"/>
          </p:cNvSpPr>
          <p:nvPr>
            <p:ph idx="1"/>
          </p:nvPr>
        </p:nvSpPr>
        <p:spPr>
          <a:xfrm>
            <a:off x="1066800" y="1528810"/>
            <a:ext cx="10058400" cy="5856513"/>
          </a:xfrm>
        </p:spPr>
        <p:txBody>
          <a:bodyPr>
            <a:noAutofit/>
          </a:bodyPr>
          <a:lstStyle/>
          <a:p>
            <a:r>
              <a:rPr lang="en-IN" dirty="0">
                <a:latin typeface="Century" panose="02040604050505020304" pitchFamily="18" charset="0"/>
              </a:rPr>
              <a:t>It contains patients medical records used for predicting used for predicting heart disease</a:t>
            </a:r>
          </a:p>
          <a:p>
            <a:r>
              <a:rPr lang="en-IN" dirty="0">
                <a:latin typeface="Century" panose="02040604050505020304" pitchFamily="18" charset="0"/>
              </a:rPr>
              <a:t>Total number of attributes:13-14 input features+1 target variable</a:t>
            </a:r>
          </a:p>
          <a:p>
            <a:r>
              <a:rPr lang="en-IN" dirty="0">
                <a:latin typeface="Century" panose="02040604050505020304" pitchFamily="18" charset="0"/>
              </a:rPr>
              <a:t>The data used for heart prediction is commonly used from UCI machine Learning</a:t>
            </a:r>
          </a:p>
          <a:p>
            <a:r>
              <a:rPr lang="en-IN" b="1" dirty="0">
                <a:latin typeface="Century" panose="02040604050505020304" pitchFamily="18" charset="0"/>
              </a:rPr>
              <a:t>KEY FEATURE</a:t>
            </a:r>
          </a:p>
          <a:p>
            <a:r>
              <a:rPr lang="en-IN" b="1" dirty="0">
                <a:latin typeface="Century" panose="02040604050505020304" pitchFamily="18" charset="0"/>
              </a:rPr>
              <a:t>Age </a:t>
            </a:r>
            <a:r>
              <a:rPr lang="en-IN" dirty="0">
                <a:latin typeface="Century" panose="02040604050505020304" pitchFamily="18" charset="0"/>
              </a:rPr>
              <a:t>: </a:t>
            </a:r>
            <a:r>
              <a:rPr lang="en-IN" sz="2400" dirty="0">
                <a:latin typeface="Century" panose="02040604050505020304" pitchFamily="18" charset="0"/>
              </a:rPr>
              <a:t>age of the patient</a:t>
            </a:r>
            <a:endParaRPr lang="en-IN" dirty="0">
              <a:latin typeface="Century" panose="02040604050505020304" pitchFamily="18" charset="0"/>
            </a:endParaRPr>
          </a:p>
          <a:p>
            <a:r>
              <a:rPr lang="en-IN" b="1" dirty="0">
                <a:latin typeface="Century" panose="02040604050505020304" pitchFamily="18" charset="0"/>
              </a:rPr>
              <a:t>Sex : </a:t>
            </a:r>
            <a:r>
              <a:rPr lang="en-IN" sz="2400" dirty="0">
                <a:latin typeface="Century" panose="02040604050505020304" pitchFamily="18" charset="0"/>
              </a:rPr>
              <a:t>gender</a:t>
            </a:r>
          </a:p>
          <a:p>
            <a:r>
              <a:rPr lang="en-IN" sz="2400" b="1" dirty="0">
                <a:latin typeface="Century" panose="02040604050505020304" pitchFamily="18" charset="0"/>
              </a:rPr>
              <a:t>Chest pain t</a:t>
            </a:r>
            <a:r>
              <a:rPr lang="en-IN" b="1" dirty="0">
                <a:latin typeface="Century" panose="02040604050505020304" pitchFamily="18" charset="0"/>
              </a:rPr>
              <a:t>ype : </a:t>
            </a:r>
            <a:r>
              <a:rPr lang="en-IN" sz="2400" dirty="0">
                <a:latin typeface="Century" panose="02040604050505020304" pitchFamily="18" charset="0"/>
              </a:rPr>
              <a:t>type of chest pain</a:t>
            </a:r>
            <a:endParaRPr lang="en-IN" dirty="0">
              <a:latin typeface="Century" panose="02040604050505020304" pitchFamily="18" charset="0"/>
            </a:endParaRPr>
          </a:p>
          <a:p>
            <a:r>
              <a:rPr lang="en-IN" b="1" dirty="0">
                <a:latin typeface="Century" panose="02040604050505020304" pitchFamily="18" charset="0"/>
              </a:rPr>
              <a:t>Resting Blood Pressure</a:t>
            </a:r>
          </a:p>
          <a:p>
            <a:r>
              <a:rPr lang="en-IN" b="1" dirty="0">
                <a:latin typeface="Century" panose="02040604050505020304" pitchFamily="18" charset="0"/>
              </a:rPr>
              <a:t>Chol</a:t>
            </a:r>
          </a:p>
          <a:p>
            <a:r>
              <a:rPr lang="en-IN" b="1" dirty="0" err="1">
                <a:latin typeface="Century" panose="02040604050505020304" pitchFamily="18" charset="0"/>
              </a:rPr>
              <a:t>Fbs</a:t>
            </a:r>
            <a:endParaRPr lang="en-IN" b="1" dirty="0">
              <a:latin typeface="Century" panose="02040604050505020304" pitchFamily="18" charset="0"/>
            </a:endParaRPr>
          </a:p>
          <a:p>
            <a:r>
              <a:rPr lang="en-IN" b="1" dirty="0" err="1">
                <a:latin typeface="Century" panose="02040604050505020304" pitchFamily="18" charset="0"/>
              </a:rPr>
              <a:t>Restecg</a:t>
            </a:r>
            <a:endParaRPr lang="en-IN" sz="1600" b="1" dirty="0">
              <a:latin typeface="Century" panose="02040604050505020304" pitchFamily="18" charset="0"/>
            </a:endParaRPr>
          </a:p>
        </p:txBody>
      </p:sp>
    </p:spTree>
    <p:extLst>
      <p:ext uri="{BB962C8B-B14F-4D97-AF65-F5344CB8AC3E}">
        <p14:creationId xmlns:p14="http://schemas.microsoft.com/office/powerpoint/2010/main" val="3189402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457E3-EEC4-C073-DBF8-E97F85DA142B}"/>
              </a:ext>
            </a:extLst>
          </p:cNvPr>
          <p:cNvSpPr>
            <a:spLocks noGrp="1"/>
          </p:cNvSpPr>
          <p:nvPr>
            <p:ph type="title"/>
          </p:nvPr>
        </p:nvSpPr>
        <p:spPr>
          <a:xfrm>
            <a:off x="1066800" y="112492"/>
            <a:ext cx="10058400" cy="1609344"/>
          </a:xfrm>
        </p:spPr>
        <p:txBody>
          <a:bodyPr/>
          <a:lstStyle/>
          <a:p>
            <a:r>
              <a:rPr lang="en-IN" dirty="0"/>
              <a:t>METHODOLOGY</a:t>
            </a:r>
          </a:p>
        </p:txBody>
      </p:sp>
      <p:sp>
        <p:nvSpPr>
          <p:cNvPr id="3" name="Content Placeholder 2">
            <a:extLst>
              <a:ext uri="{FF2B5EF4-FFF2-40B4-BE49-F238E27FC236}">
                <a16:creationId xmlns:a16="http://schemas.microsoft.com/office/drawing/2014/main" id="{EF8A9086-3059-24AB-95C7-BB0CC0CC1090}"/>
              </a:ext>
            </a:extLst>
          </p:cNvPr>
          <p:cNvSpPr>
            <a:spLocks noGrp="1"/>
          </p:cNvSpPr>
          <p:nvPr>
            <p:ph idx="1"/>
          </p:nvPr>
        </p:nvSpPr>
        <p:spPr>
          <a:xfrm>
            <a:off x="761504" y="1126671"/>
            <a:ext cx="10058400" cy="4604657"/>
          </a:xfrm>
        </p:spPr>
        <p:txBody>
          <a:bodyPr>
            <a:normAutofit fontScale="25000" lnSpcReduction="20000"/>
          </a:bodyPr>
          <a:lstStyle/>
          <a:p>
            <a:pPr marL="0" indent="0">
              <a:buNone/>
            </a:pPr>
            <a:endParaRPr lang="en-US" b="1" dirty="0"/>
          </a:p>
          <a:p>
            <a:r>
              <a:rPr lang="en-US" sz="7200" dirty="0">
                <a:latin typeface="Century" panose="02040604050505020304" pitchFamily="18" charset="0"/>
              </a:rPr>
              <a:t>Collected dataset from reliable sources such as UCI Repository or Kaggle</a:t>
            </a:r>
          </a:p>
          <a:p>
            <a:r>
              <a:rPr lang="en-US" sz="7200" dirty="0">
                <a:latin typeface="Century" panose="02040604050505020304" pitchFamily="18" charset="0"/>
              </a:rPr>
              <a:t>Dataset contains medical records with multiple health-related attributes</a:t>
            </a:r>
          </a:p>
          <a:p>
            <a:r>
              <a:rPr lang="en-US" sz="7200" dirty="0">
                <a:latin typeface="Century" panose="02040604050505020304" pitchFamily="18" charset="0"/>
              </a:rPr>
              <a:t>Data Collection</a:t>
            </a:r>
            <a:br>
              <a:rPr lang="en-US" sz="7200" dirty="0">
                <a:latin typeface="Century" panose="02040604050505020304" pitchFamily="18" charset="0"/>
              </a:rPr>
            </a:br>
            <a:endParaRPr lang="en-US" sz="7200" dirty="0">
              <a:latin typeface="Century" panose="02040604050505020304" pitchFamily="18" charset="0"/>
            </a:endParaRPr>
          </a:p>
          <a:p>
            <a:r>
              <a:rPr lang="en-US" sz="7200" b="1" dirty="0">
                <a:latin typeface="Century" panose="02040604050505020304" pitchFamily="18" charset="0"/>
              </a:rPr>
              <a:t>2. Data Preprocessing</a:t>
            </a:r>
          </a:p>
          <a:p>
            <a:r>
              <a:rPr lang="en-US" sz="7200" dirty="0">
                <a:latin typeface="Century" panose="02040604050505020304" pitchFamily="18" charset="0"/>
              </a:rPr>
              <a:t>Handled missing or null values using imputation techniques</a:t>
            </a:r>
          </a:p>
          <a:p>
            <a:r>
              <a:rPr lang="en-US" sz="7200" dirty="0">
                <a:latin typeface="Century" panose="02040604050505020304" pitchFamily="18" charset="0"/>
              </a:rPr>
              <a:t>Converted categorical data into numerical form (encoding)</a:t>
            </a:r>
          </a:p>
          <a:p>
            <a:r>
              <a:rPr lang="en-IN" sz="7200" dirty="0">
                <a:latin typeface="Century" panose="02040604050505020304" pitchFamily="18" charset="0"/>
              </a:rPr>
              <a:t>Normalized/standardized numerical features for better model performance</a:t>
            </a:r>
          </a:p>
          <a:p>
            <a:r>
              <a:rPr lang="en-IN" sz="7200" dirty="0">
                <a:latin typeface="Century" panose="02040604050505020304" pitchFamily="18" charset="0"/>
              </a:rPr>
              <a:t>Removed duplicate and inconsistent data entries</a:t>
            </a:r>
          </a:p>
          <a:p>
            <a:br>
              <a:rPr lang="en-IN" sz="7200" dirty="0">
                <a:latin typeface="Century" panose="02040604050505020304" pitchFamily="18" charset="0"/>
              </a:rPr>
            </a:br>
            <a:endParaRPr lang="en-IN" sz="7200" dirty="0">
              <a:latin typeface="Century" panose="02040604050505020304" pitchFamily="18" charset="0"/>
            </a:endParaRPr>
          </a:p>
          <a:p>
            <a:r>
              <a:rPr lang="en-IN" sz="7200" b="1" dirty="0">
                <a:latin typeface="Century" panose="02040604050505020304" pitchFamily="18" charset="0"/>
              </a:rPr>
              <a:t>3. Exploratory Data Analysis (EDA)</a:t>
            </a:r>
          </a:p>
          <a:p>
            <a:r>
              <a:rPr lang="en-IN" sz="7200" dirty="0" err="1">
                <a:latin typeface="Century" panose="02040604050505020304" pitchFamily="18" charset="0"/>
              </a:rPr>
              <a:t>Analyzed</a:t>
            </a:r>
            <a:r>
              <a:rPr lang="en-IN" sz="7200" dirty="0">
                <a:latin typeface="Century" panose="02040604050505020304" pitchFamily="18" charset="0"/>
              </a:rPr>
              <a:t> distribution of features using statistical methods</a:t>
            </a:r>
          </a:p>
          <a:p>
            <a:r>
              <a:rPr lang="en-IN" sz="7200" dirty="0">
                <a:latin typeface="Century" panose="02040604050505020304" pitchFamily="18" charset="0"/>
              </a:rPr>
              <a:t>Visualized relationships between variables using graphs (heatmaps, histograms)</a:t>
            </a:r>
          </a:p>
          <a:p>
            <a:r>
              <a:rPr lang="en-IN" sz="7200" dirty="0">
                <a:latin typeface="Century" panose="02040604050505020304" pitchFamily="18" charset="0"/>
              </a:rPr>
              <a:t>Identified correlations between input features and target variable</a:t>
            </a:r>
          </a:p>
          <a:p>
            <a:endParaRPr lang="en-IN" dirty="0"/>
          </a:p>
        </p:txBody>
      </p:sp>
    </p:spTree>
    <p:extLst>
      <p:ext uri="{BB962C8B-B14F-4D97-AF65-F5344CB8AC3E}">
        <p14:creationId xmlns:p14="http://schemas.microsoft.com/office/powerpoint/2010/main" val="2379159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DFC96DE7-C782-D85E-DA77-DD5B4E047970}"/>
              </a:ext>
            </a:extLst>
          </p:cNvPr>
          <p:cNvPicPr>
            <a:picLocks noGrp="1" noChangeAspect="1"/>
          </p:cNvPicPr>
          <p:nvPr>
            <p:ph type="pic"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4954" r="24954"/>
          <a:stretch/>
        </p:blipFill>
        <p:spPr>
          <a:xfrm>
            <a:off x="0" y="0"/>
            <a:ext cx="8303740" cy="6858000"/>
          </a:xfrm>
        </p:spPr>
      </p:pic>
      <p:sp>
        <p:nvSpPr>
          <p:cNvPr id="4" name="Text Placeholder 3">
            <a:extLst>
              <a:ext uri="{FF2B5EF4-FFF2-40B4-BE49-F238E27FC236}">
                <a16:creationId xmlns:a16="http://schemas.microsoft.com/office/drawing/2014/main" id="{2626597A-4651-BF0E-692E-9FA901C052EA}"/>
              </a:ext>
            </a:extLst>
          </p:cNvPr>
          <p:cNvSpPr>
            <a:spLocks noGrp="1"/>
          </p:cNvSpPr>
          <p:nvPr>
            <p:ph type="body" sz="half" idx="2"/>
          </p:nvPr>
        </p:nvSpPr>
        <p:spPr>
          <a:xfrm>
            <a:off x="8561161" y="223611"/>
            <a:ext cx="3200400" cy="6133646"/>
          </a:xfrm>
        </p:spPr>
        <p:txBody>
          <a:bodyPr>
            <a:normAutofit/>
          </a:bodyPr>
          <a:lstStyle/>
          <a:p>
            <a:r>
              <a:rPr lang="en-US" sz="1600" dirty="0">
                <a:latin typeface="Century" panose="02040604050505020304" pitchFamily="18" charset="0"/>
              </a:rPr>
              <a:t>Data Collection:</a:t>
            </a:r>
          </a:p>
          <a:p>
            <a:r>
              <a:rPr lang="en-US" sz="1600" dirty="0">
                <a:latin typeface="Century" panose="02040604050505020304" pitchFamily="18" charset="0"/>
              </a:rPr>
              <a:t>Gather patient health data from hospitals, health surveys, or public datasets.</a:t>
            </a:r>
          </a:p>
          <a:p>
            <a:r>
              <a:rPr lang="en-US" sz="1600" dirty="0">
                <a:latin typeface="Century" panose="02040604050505020304" pitchFamily="18" charset="0"/>
              </a:rPr>
              <a:t>Include features such as age, gender, blood pressure, cholesterol levels, heart rate, smoking habits, diabetes, and physical activity.</a:t>
            </a:r>
          </a:p>
          <a:p>
            <a:r>
              <a:rPr lang="en-US" sz="1600" dirty="0">
                <a:latin typeface="Century" panose="02040604050505020304" pitchFamily="18" charset="0"/>
              </a:rPr>
              <a:t>Data Preprocessing and Cleaning:</a:t>
            </a:r>
          </a:p>
          <a:p>
            <a:r>
              <a:rPr lang="en-US" sz="1600" dirty="0">
                <a:latin typeface="Century" panose="02040604050505020304" pitchFamily="18" charset="0"/>
              </a:rPr>
              <a:t>Handle missing, inconsistent, or incorrect data.</a:t>
            </a:r>
          </a:p>
          <a:p>
            <a:r>
              <a:rPr lang="en-US" sz="1600" dirty="0">
                <a:latin typeface="Century" panose="02040604050505020304" pitchFamily="18" charset="0"/>
              </a:rPr>
              <a:t>Convert categorical data (like gender or chest pain type) into numeric format if needed.</a:t>
            </a:r>
          </a:p>
          <a:p>
            <a:r>
              <a:rPr lang="en-US" sz="1600" dirty="0">
                <a:latin typeface="Century" panose="02040604050505020304" pitchFamily="18" charset="0"/>
              </a:rPr>
              <a:t>Normalize or scale numerical values to ensure fair comparison.</a:t>
            </a:r>
          </a:p>
          <a:p>
            <a:endParaRPr lang="en-IN" dirty="0"/>
          </a:p>
        </p:txBody>
      </p:sp>
      <p:sp>
        <p:nvSpPr>
          <p:cNvPr id="12" name="TextBox 11">
            <a:extLst>
              <a:ext uri="{FF2B5EF4-FFF2-40B4-BE49-F238E27FC236}">
                <a16:creationId xmlns:a16="http://schemas.microsoft.com/office/drawing/2014/main" id="{8F6FA78C-D0B4-2BC6-090B-59663B63B3D2}"/>
              </a:ext>
            </a:extLst>
          </p:cNvPr>
          <p:cNvSpPr txBox="1"/>
          <p:nvPr/>
        </p:nvSpPr>
        <p:spPr>
          <a:xfrm>
            <a:off x="0" y="6858000"/>
            <a:ext cx="8218713" cy="230832"/>
          </a:xfrm>
          <a:prstGeom prst="rect">
            <a:avLst/>
          </a:prstGeom>
          <a:noFill/>
        </p:spPr>
        <p:txBody>
          <a:bodyPr wrap="square" rtlCol="0">
            <a:spAutoFit/>
          </a:bodyPr>
          <a:lstStyle/>
          <a:p>
            <a:r>
              <a:rPr lang="en-IN" sz="900">
                <a:hlinkClick r:id="rId3" tooltip="https://hdprediction.commons.gc.cuny.edu/2024/12/28/exploratory-data-analysis-eda-on-x_train-cleveland-only/"/>
              </a:rPr>
              <a:t>This Photo</a:t>
            </a:r>
            <a:r>
              <a:rPr lang="en-IN" sz="900"/>
              <a:t> by Unknown Author is licensed under </a:t>
            </a:r>
            <a:r>
              <a:rPr lang="en-IN" sz="900">
                <a:hlinkClick r:id="rId4" tooltip="https://creativecommons.org/licenses/by-nc-sa/3.0/"/>
              </a:rPr>
              <a:t>CC BY-SA-NC</a:t>
            </a:r>
            <a:endParaRPr lang="en-IN" sz="900"/>
          </a:p>
        </p:txBody>
      </p:sp>
    </p:spTree>
    <p:extLst>
      <p:ext uri="{BB962C8B-B14F-4D97-AF65-F5344CB8AC3E}">
        <p14:creationId xmlns:p14="http://schemas.microsoft.com/office/powerpoint/2010/main" val="3514183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75D99-E12D-10FA-7B71-AF3E1E2CE7E8}"/>
              </a:ext>
            </a:extLst>
          </p:cNvPr>
          <p:cNvSpPr>
            <a:spLocks noGrp="1"/>
          </p:cNvSpPr>
          <p:nvPr>
            <p:ph type="title"/>
          </p:nvPr>
        </p:nvSpPr>
        <p:spPr>
          <a:xfrm>
            <a:off x="8549640" y="141514"/>
            <a:ext cx="3200400" cy="1284515"/>
          </a:xfrm>
        </p:spPr>
        <p:txBody>
          <a:bodyPr/>
          <a:lstStyle/>
          <a:p>
            <a:r>
              <a:rPr lang="en-IN" dirty="0"/>
              <a:t>MODEL USED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E31EF98-ECAB-8652-20A7-0292069C8F22}"/>
                  </a:ext>
                </a:extLst>
              </p:cNvPr>
              <p:cNvSpPr>
                <a:spLocks noGrp="1"/>
              </p:cNvSpPr>
              <p:nvPr>
                <p:ph idx="1"/>
              </p:nvPr>
            </p:nvSpPr>
            <p:spPr>
              <a:xfrm>
                <a:off x="838200" y="272143"/>
                <a:ext cx="6711696" cy="5433713"/>
              </a:xfrm>
            </p:spPr>
            <p:txBody>
              <a:bodyPr>
                <a:normAutofit fontScale="25000" lnSpcReduction="20000"/>
              </a:bodyPr>
              <a:lstStyle/>
              <a:p>
                <a:r>
                  <a:rPr lang="en-US" sz="6400" dirty="0">
                    <a:latin typeface="Century" panose="02040604050505020304" pitchFamily="18" charset="0"/>
                  </a:rPr>
                  <a:t>Model Used</a:t>
                </a:r>
                <a:r>
                  <a:rPr lang="en-US" sz="8000" dirty="0">
                    <a:latin typeface="Century" panose="02040604050505020304" pitchFamily="18" charset="0"/>
                  </a:rPr>
                  <a:t>: </a:t>
                </a:r>
                <a:r>
                  <a:rPr lang="en-US" sz="8000" b="1" dirty="0">
                    <a:latin typeface="Century" panose="02040604050505020304" pitchFamily="18" charset="0"/>
                  </a:rPr>
                  <a:t>Logistic Regression</a:t>
                </a:r>
              </a:p>
              <a:p>
                <a:r>
                  <a:rPr lang="en-US" sz="6400" dirty="0">
                    <a:latin typeface="Century" panose="02040604050505020304" pitchFamily="18" charset="0"/>
                  </a:rPr>
                  <a:t>Logistic Regression is a supervised machine learning algorithm</a:t>
                </a:r>
              </a:p>
              <a:p>
                <a:r>
                  <a:rPr lang="en-US" sz="6400" dirty="0">
                    <a:latin typeface="Century" panose="02040604050505020304" pitchFamily="18" charset="0"/>
                  </a:rPr>
                  <a:t> used for binary classification</a:t>
                </a:r>
              </a:p>
              <a:p>
                <a:r>
                  <a:rPr lang="en-US" sz="6400" dirty="0">
                    <a:latin typeface="Century" panose="02040604050505020304" pitchFamily="18" charset="0"/>
                  </a:rPr>
                  <a:t> problems,</a:t>
                </a:r>
              </a:p>
              <a:p>
                <a:r>
                  <a:rPr lang="en-US" sz="6400" dirty="0">
                    <a:latin typeface="Century" panose="02040604050505020304" pitchFamily="18" charset="0"/>
                  </a:rPr>
                  <a:t> making it suitable for predicting the presence or absence of heart</a:t>
                </a:r>
              </a:p>
              <a:p>
                <a:r>
                  <a:rPr lang="en-US" sz="6400" dirty="0">
                    <a:latin typeface="Century" panose="02040604050505020304" pitchFamily="18" charset="0"/>
                  </a:rPr>
                  <a:t> disease.</a:t>
                </a:r>
                <a:br>
                  <a:rPr lang="en-US" sz="6400" dirty="0">
                    <a:latin typeface="Century" panose="02040604050505020304" pitchFamily="18" charset="0"/>
                  </a:rPr>
                </a:br>
                <a:endParaRPr lang="en-US" sz="6400" dirty="0">
                  <a:latin typeface="Century" panose="02040604050505020304" pitchFamily="18" charset="0"/>
                </a:endParaRPr>
              </a:p>
              <a:p>
                <a:r>
                  <a:rPr lang="en-US" sz="6400" dirty="0">
                    <a:latin typeface="Century" panose="02040604050505020304" pitchFamily="18" charset="0"/>
                  </a:rPr>
                  <a:t>Working Principle</a:t>
                </a:r>
              </a:p>
              <a:p>
                <a:r>
                  <a:rPr lang="en-US" sz="6400" dirty="0">
                    <a:latin typeface="Century" panose="02040604050505020304" pitchFamily="18" charset="0"/>
                  </a:rPr>
                  <a:t>It uses the sigmoid (logistic) function to map predicted values into</a:t>
                </a:r>
              </a:p>
              <a:p>
                <a:r>
                  <a:rPr lang="en-US" sz="6400" dirty="0">
                    <a:latin typeface="Century" panose="02040604050505020304" pitchFamily="18" charset="0"/>
                  </a:rPr>
                  <a:t> a probability range between 0 and 1.</a:t>
                </a:r>
              </a:p>
              <a:p>
                <a:r>
                  <a:rPr lang="en-IN" sz="6400" dirty="0">
                    <a:latin typeface="Century" panose="02040604050505020304" pitchFamily="18" charset="0"/>
                  </a:rPr>
                  <a:t>The model estimates the probability of a patient having heart</a:t>
                </a:r>
              </a:p>
              <a:p>
                <a:r>
                  <a:rPr lang="en-IN" sz="6400" dirty="0">
                    <a:latin typeface="Century" panose="02040604050505020304" pitchFamily="18" charset="0"/>
                  </a:rPr>
                  <a:t> disease based on input features.</a:t>
                </a:r>
              </a:p>
              <a:p>
                <a:r>
                  <a:rPr lang="en-IN" sz="6400" dirty="0">
                    <a:latin typeface="Century" panose="02040604050505020304" pitchFamily="18" charset="0"/>
                  </a:rPr>
                  <a:t>Sigmoid Function:</a:t>
                </a:r>
              </a:p>
              <a:p>
                <a14:m>
                  <m:oMath xmlns:m="http://schemas.openxmlformats.org/officeDocument/2006/math">
                    <m:r>
                      <a:rPr lang="en-IN" sz="6400">
                        <a:latin typeface="Cambria Math" panose="02040503050406030204" pitchFamily="18" charset="0"/>
                      </a:rPr>
                      <m:t>𝑃</m:t>
                    </m:r>
                    <m:d>
                      <m:dPr>
                        <m:ctrlPr>
                          <a:rPr lang="ar-AE" sz="6400" i="1">
                            <a:latin typeface="Cambria Math" panose="02040503050406030204" pitchFamily="18" charset="0"/>
                          </a:rPr>
                        </m:ctrlPr>
                      </m:dPr>
                      <m:e>
                        <m:r>
                          <a:rPr lang="ar-AE" sz="6400">
                            <a:latin typeface="Cambria Math" panose="02040503050406030204" pitchFamily="18" charset="0"/>
                          </a:rPr>
                          <m:t>𝑌</m:t>
                        </m:r>
                        <m:r>
                          <a:rPr lang="ar-AE" sz="6400">
                            <a:latin typeface="Cambria Math" panose="02040503050406030204" pitchFamily="18" charset="0"/>
                          </a:rPr>
                          <m:t>=</m:t>
                        </m:r>
                        <m:r>
                          <a:rPr lang="ar-AE" sz="6400">
                            <a:latin typeface="Cambria Math" panose="02040503050406030204" pitchFamily="18" charset="0"/>
                          </a:rPr>
                          <m:t>1</m:t>
                        </m:r>
                      </m:e>
                    </m:d>
                    <m:r>
                      <a:rPr lang="ar-AE" sz="6400">
                        <a:latin typeface="Cambria Math" panose="02040503050406030204" pitchFamily="18" charset="0"/>
                      </a:rPr>
                      <m:t>=</m:t>
                    </m:r>
                    <m:f>
                      <m:fPr>
                        <m:ctrlPr>
                          <a:rPr lang="ar-AE" sz="6400" i="1">
                            <a:latin typeface="Cambria Math" panose="02040503050406030204" pitchFamily="18" charset="0"/>
                          </a:rPr>
                        </m:ctrlPr>
                      </m:fPr>
                      <m:num>
                        <m:r>
                          <a:rPr lang="ar-AE" sz="6400">
                            <a:latin typeface="Cambria Math" panose="02040503050406030204" pitchFamily="18" charset="0"/>
                          </a:rPr>
                          <m:t>1</m:t>
                        </m:r>
                      </m:num>
                      <m:den>
                        <m:r>
                          <a:rPr lang="ar-AE" sz="6400">
                            <a:latin typeface="Cambria Math" panose="02040503050406030204" pitchFamily="18" charset="0"/>
                          </a:rPr>
                          <m:t>1</m:t>
                        </m:r>
                        <m:r>
                          <a:rPr lang="ar-AE" sz="6400">
                            <a:latin typeface="Cambria Math" panose="02040503050406030204" pitchFamily="18" charset="0"/>
                          </a:rPr>
                          <m:t>+</m:t>
                        </m:r>
                        <m:sSup>
                          <m:sSupPr>
                            <m:ctrlPr>
                              <a:rPr lang="ar-AE" sz="6400" i="1">
                                <a:latin typeface="Cambria Math" panose="02040503050406030204" pitchFamily="18" charset="0"/>
                              </a:rPr>
                            </m:ctrlPr>
                          </m:sSupPr>
                          <m:e>
                            <m:r>
                              <a:rPr lang="ar-AE" sz="6400">
                                <a:latin typeface="Cambria Math" panose="02040503050406030204" pitchFamily="18" charset="0"/>
                              </a:rPr>
                              <m:t>𝑒</m:t>
                            </m:r>
                          </m:e>
                          <m:sup>
                            <m:r>
                              <a:rPr lang="ar-AE" sz="6400">
                                <a:latin typeface="Cambria Math" panose="02040503050406030204" pitchFamily="18" charset="0"/>
                              </a:rPr>
                              <m:t>−</m:t>
                            </m:r>
                            <m:r>
                              <a:rPr lang="ar-AE" sz="6400">
                                <a:latin typeface="Cambria Math" panose="02040503050406030204" pitchFamily="18" charset="0"/>
                              </a:rPr>
                              <m:t>𝑧</m:t>
                            </m:r>
                          </m:sup>
                        </m:sSup>
                      </m:den>
                    </m:f>
                  </m:oMath>
                </a14:m>
                <a:endParaRPr lang="ar-AE" sz="6400" dirty="0">
                  <a:latin typeface="Century" panose="02040604050505020304" pitchFamily="18" charset="0"/>
                </a:endParaRPr>
              </a:p>
              <a:p>
                <a:r>
                  <a:rPr lang="en-IN" sz="6400" dirty="0">
                    <a:latin typeface="Century" panose="02040604050505020304" pitchFamily="18" charset="0"/>
                  </a:rPr>
                  <a:t>Where:</a:t>
                </a:r>
              </a:p>
              <a:p>
                <a14:m>
                  <m:oMath xmlns:m="http://schemas.openxmlformats.org/officeDocument/2006/math">
                    <m:r>
                      <a:rPr lang="en-IN" sz="6400">
                        <a:latin typeface="Cambria Math" panose="02040503050406030204" pitchFamily="18" charset="0"/>
                      </a:rPr>
                      <m:t>𝑧</m:t>
                    </m:r>
                    <m:r>
                      <a:rPr lang="en-IN" sz="6400">
                        <a:latin typeface="Cambria Math" panose="02040503050406030204" pitchFamily="18" charset="0"/>
                      </a:rPr>
                      <m:t>=</m:t>
                    </m:r>
                    <m:sSub>
                      <m:sSubPr>
                        <m:ctrlPr>
                          <a:rPr lang="ar-AE" sz="6400" i="1">
                            <a:latin typeface="Cambria Math" panose="02040503050406030204" pitchFamily="18" charset="0"/>
                          </a:rPr>
                        </m:ctrlPr>
                      </m:sSubPr>
                      <m:e>
                        <m:r>
                          <a:rPr lang="ar-AE" sz="6400">
                            <a:latin typeface="Cambria Math" panose="02040503050406030204" pitchFamily="18" charset="0"/>
                          </a:rPr>
                          <m:t>𝑏</m:t>
                        </m:r>
                      </m:e>
                      <m:sub>
                        <m:r>
                          <a:rPr lang="ar-AE" sz="6400">
                            <a:latin typeface="Cambria Math" panose="02040503050406030204" pitchFamily="18" charset="0"/>
                          </a:rPr>
                          <m:t>0</m:t>
                        </m:r>
                      </m:sub>
                    </m:sSub>
                    <m:r>
                      <a:rPr lang="ar-AE" sz="6400">
                        <a:latin typeface="Cambria Math" panose="02040503050406030204" pitchFamily="18" charset="0"/>
                      </a:rPr>
                      <m:t>+</m:t>
                    </m:r>
                    <m:sSub>
                      <m:sSubPr>
                        <m:ctrlPr>
                          <a:rPr lang="ar-AE" sz="6400" i="1">
                            <a:latin typeface="Cambria Math" panose="02040503050406030204" pitchFamily="18" charset="0"/>
                          </a:rPr>
                        </m:ctrlPr>
                      </m:sSubPr>
                      <m:e>
                        <m:r>
                          <a:rPr lang="ar-AE" sz="6400">
                            <a:latin typeface="Cambria Math" panose="02040503050406030204" pitchFamily="18" charset="0"/>
                          </a:rPr>
                          <m:t>𝑏</m:t>
                        </m:r>
                      </m:e>
                      <m:sub>
                        <m:r>
                          <a:rPr lang="ar-AE" sz="6400">
                            <a:latin typeface="Cambria Math" panose="02040503050406030204" pitchFamily="18" charset="0"/>
                          </a:rPr>
                          <m:t>1</m:t>
                        </m:r>
                      </m:sub>
                    </m:sSub>
                    <m:sSub>
                      <m:sSubPr>
                        <m:ctrlPr>
                          <a:rPr lang="ar-AE" sz="6400" i="1">
                            <a:latin typeface="Cambria Math" panose="02040503050406030204" pitchFamily="18" charset="0"/>
                          </a:rPr>
                        </m:ctrlPr>
                      </m:sSubPr>
                      <m:e>
                        <m:r>
                          <a:rPr lang="ar-AE" sz="6400">
                            <a:latin typeface="Cambria Math" panose="02040503050406030204" pitchFamily="18" charset="0"/>
                          </a:rPr>
                          <m:t>𝑥</m:t>
                        </m:r>
                      </m:e>
                      <m:sub>
                        <m:r>
                          <a:rPr lang="ar-AE" sz="6400">
                            <a:latin typeface="Cambria Math" panose="02040503050406030204" pitchFamily="18" charset="0"/>
                          </a:rPr>
                          <m:t>1</m:t>
                        </m:r>
                      </m:sub>
                    </m:sSub>
                    <m:r>
                      <a:rPr lang="ar-AE" sz="6400">
                        <a:latin typeface="Cambria Math" panose="02040503050406030204" pitchFamily="18" charset="0"/>
                      </a:rPr>
                      <m:t>+</m:t>
                    </m:r>
                    <m:sSub>
                      <m:sSubPr>
                        <m:ctrlPr>
                          <a:rPr lang="ar-AE" sz="6400" i="1">
                            <a:latin typeface="Cambria Math" panose="02040503050406030204" pitchFamily="18" charset="0"/>
                          </a:rPr>
                        </m:ctrlPr>
                      </m:sSubPr>
                      <m:e>
                        <m:r>
                          <a:rPr lang="ar-AE" sz="6400">
                            <a:latin typeface="Cambria Math" panose="02040503050406030204" pitchFamily="18" charset="0"/>
                          </a:rPr>
                          <m:t>𝑏</m:t>
                        </m:r>
                      </m:e>
                      <m:sub>
                        <m:r>
                          <a:rPr lang="ar-AE" sz="6400">
                            <a:latin typeface="Cambria Math" panose="02040503050406030204" pitchFamily="18" charset="0"/>
                          </a:rPr>
                          <m:t>2</m:t>
                        </m:r>
                      </m:sub>
                    </m:sSub>
                    <m:sSub>
                      <m:sSubPr>
                        <m:ctrlPr>
                          <a:rPr lang="ar-AE" sz="6400" i="1">
                            <a:latin typeface="Cambria Math" panose="02040503050406030204" pitchFamily="18" charset="0"/>
                          </a:rPr>
                        </m:ctrlPr>
                      </m:sSubPr>
                      <m:e>
                        <m:r>
                          <a:rPr lang="ar-AE" sz="6400">
                            <a:latin typeface="Cambria Math" panose="02040503050406030204" pitchFamily="18" charset="0"/>
                          </a:rPr>
                          <m:t>𝑥</m:t>
                        </m:r>
                      </m:e>
                      <m:sub>
                        <m:r>
                          <a:rPr lang="ar-AE" sz="6400">
                            <a:latin typeface="Cambria Math" panose="02040503050406030204" pitchFamily="18" charset="0"/>
                          </a:rPr>
                          <m:t>2</m:t>
                        </m:r>
                      </m:sub>
                    </m:sSub>
                    <m:r>
                      <a:rPr lang="ar-AE" sz="6400">
                        <a:latin typeface="Cambria Math" panose="02040503050406030204" pitchFamily="18" charset="0"/>
                      </a:rPr>
                      <m:t>+...+</m:t>
                    </m:r>
                    <m:sSub>
                      <m:sSubPr>
                        <m:ctrlPr>
                          <a:rPr lang="ar-AE" sz="6400" i="1">
                            <a:latin typeface="Cambria Math" panose="02040503050406030204" pitchFamily="18" charset="0"/>
                          </a:rPr>
                        </m:ctrlPr>
                      </m:sSubPr>
                      <m:e>
                        <m:r>
                          <a:rPr lang="ar-AE" sz="6400">
                            <a:latin typeface="Cambria Math" panose="02040503050406030204" pitchFamily="18" charset="0"/>
                          </a:rPr>
                          <m:t>𝑏</m:t>
                        </m:r>
                      </m:e>
                      <m:sub>
                        <m:r>
                          <a:rPr lang="ar-AE" sz="6400">
                            <a:latin typeface="Cambria Math" panose="02040503050406030204" pitchFamily="18" charset="0"/>
                          </a:rPr>
                          <m:t>𝑛</m:t>
                        </m:r>
                      </m:sub>
                    </m:sSub>
                    <m:sSub>
                      <m:sSubPr>
                        <m:ctrlPr>
                          <a:rPr lang="ar-AE" sz="6400" i="1">
                            <a:latin typeface="Cambria Math" panose="02040503050406030204" pitchFamily="18" charset="0"/>
                          </a:rPr>
                        </m:ctrlPr>
                      </m:sSubPr>
                      <m:e>
                        <m:r>
                          <a:rPr lang="ar-AE" sz="6400">
                            <a:latin typeface="Cambria Math" panose="02040503050406030204" pitchFamily="18" charset="0"/>
                          </a:rPr>
                          <m:t>𝑥</m:t>
                        </m:r>
                      </m:e>
                      <m:sub>
                        <m:r>
                          <a:rPr lang="ar-AE" sz="6400">
                            <a:latin typeface="Cambria Math" panose="02040503050406030204" pitchFamily="18" charset="0"/>
                          </a:rPr>
                          <m:t>𝑛</m:t>
                        </m:r>
                      </m:sub>
                    </m:sSub>
                  </m:oMath>
                </a14:m>
                <a:endParaRPr lang="ar-AE" sz="6400" dirty="0">
                  <a:latin typeface="Century" panose="02040604050505020304" pitchFamily="18" charset="0"/>
                </a:endParaRPr>
              </a:p>
              <a:p>
                <a14:m>
                  <m:oMath xmlns:m="http://schemas.openxmlformats.org/officeDocument/2006/math">
                    <m:sSub>
                      <m:sSubPr>
                        <m:ctrlPr>
                          <a:rPr lang="ar-AE" sz="6400" i="1">
                            <a:latin typeface="Cambria Math" panose="02040503050406030204" pitchFamily="18" charset="0"/>
                          </a:rPr>
                        </m:ctrlPr>
                      </m:sSubPr>
                      <m:e>
                        <m:r>
                          <a:rPr lang="ar-AE" sz="6400">
                            <a:latin typeface="Cambria Math" panose="02040503050406030204" pitchFamily="18" charset="0"/>
                          </a:rPr>
                          <m:t>𝑏</m:t>
                        </m:r>
                      </m:e>
                      <m:sub>
                        <m:r>
                          <a:rPr lang="ar-AE" sz="6400">
                            <a:latin typeface="Cambria Math" panose="02040503050406030204" pitchFamily="18" charset="0"/>
                          </a:rPr>
                          <m:t>0</m:t>
                        </m:r>
                      </m:sub>
                    </m:sSub>
                  </m:oMath>
                </a14:m>
                <a:r>
                  <a:rPr lang="ar-AE" sz="6400" dirty="0">
                    <a:latin typeface="Century" panose="02040604050505020304" pitchFamily="18" charset="0"/>
                  </a:rPr>
                  <a:t>= </a:t>
                </a:r>
                <a:r>
                  <a:rPr lang="en-IN" sz="6400" dirty="0">
                    <a:latin typeface="Century" panose="02040604050505020304" pitchFamily="18" charset="0"/>
                  </a:rPr>
                  <a:t>intercept</a:t>
                </a:r>
              </a:p>
              <a:p>
                <a14:m>
                  <m:oMath xmlns:m="http://schemas.openxmlformats.org/officeDocument/2006/math">
                    <m:sSub>
                      <m:sSubPr>
                        <m:ctrlPr>
                          <a:rPr lang="ar-AE" sz="6400" i="1">
                            <a:latin typeface="Cambria Math" panose="02040503050406030204" pitchFamily="18" charset="0"/>
                          </a:rPr>
                        </m:ctrlPr>
                      </m:sSubPr>
                      <m:e>
                        <m:r>
                          <a:rPr lang="ar-AE" sz="6400">
                            <a:latin typeface="Cambria Math" panose="02040503050406030204" pitchFamily="18" charset="0"/>
                          </a:rPr>
                          <m:t>𝑏</m:t>
                        </m:r>
                      </m:e>
                      <m:sub>
                        <m:r>
                          <a:rPr lang="ar-AE" sz="6400">
                            <a:latin typeface="Cambria Math" panose="02040503050406030204" pitchFamily="18" charset="0"/>
                          </a:rPr>
                          <m:t>𝑛</m:t>
                        </m:r>
                      </m:sub>
                    </m:sSub>
                  </m:oMath>
                </a14:m>
                <a:r>
                  <a:rPr lang="ar-AE" sz="6400" dirty="0">
                    <a:latin typeface="Century" panose="02040604050505020304" pitchFamily="18" charset="0"/>
                  </a:rPr>
                  <a:t>= </a:t>
                </a:r>
                <a:r>
                  <a:rPr lang="en-IN" sz="6400" dirty="0">
                    <a:latin typeface="Century" panose="02040604050505020304" pitchFamily="18" charset="0"/>
                  </a:rPr>
                  <a:t>coefficients</a:t>
                </a:r>
              </a:p>
              <a:p>
                <a14:m>
                  <m:oMath xmlns:m="http://schemas.openxmlformats.org/officeDocument/2006/math">
                    <m:sSub>
                      <m:sSubPr>
                        <m:ctrlPr>
                          <a:rPr lang="ar-AE" sz="6400" i="1">
                            <a:latin typeface="Cambria Math" panose="02040503050406030204" pitchFamily="18" charset="0"/>
                          </a:rPr>
                        </m:ctrlPr>
                      </m:sSubPr>
                      <m:e>
                        <m:r>
                          <a:rPr lang="ar-AE" sz="6400">
                            <a:latin typeface="Cambria Math" panose="02040503050406030204" pitchFamily="18" charset="0"/>
                          </a:rPr>
                          <m:t>𝑥</m:t>
                        </m:r>
                      </m:e>
                      <m:sub>
                        <m:r>
                          <a:rPr lang="ar-AE" sz="6400">
                            <a:latin typeface="Cambria Math" panose="02040503050406030204" pitchFamily="18" charset="0"/>
                          </a:rPr>
                          <m:t>𝑛</m:t>
                        </m:r>
                      </m:sub>
                    </m:sSub>
                  </m:oMath>
                </a14:m>
                <a:r>
                  <a:rPr lang="ar-AE" sz="6400" dirty="0">
                    <a:latin typeface="Century" panose="02040604050505020304" pitchFamily="18" charset="0"/>
                  </a:rPr>
                  <a:t>= </a:t>
                </a:r>
                <a:r>
                  <a:rPr lang="en-IN" sz="6400" dirty="0">
                    <a:latin typeface="Century" panose="02040604050505020304" pitchFamily="18" charset="0"/>
                  </a:rPr>
                  <a:t>input feature</a:t>
                </a:r>
              </a:p>
              <a:p>
                <a:endParaRPr lang="en-IN" dirty="0"/>
              </a:p>
            </p:txBody>
          </p:sp>
        </mc:Choice>
        <mc:Fallback xmlns="">
          <p:sp>
            <p:nvSpPr>
              <p:cNvPr id="3" name="Content Placeholder 2">
                <a:extLst>
                  <a:ext uri="{FF2B5EF4-FFF2-40B4-BE49-F238E27FC236}">
                    <a16:creationId xmlns:a16="http://schemas.microsoft.com/office/drawing/2014/main" id="{BE31EF98-ECAB-8652-20A7-0292069C8F22}"/>
                  </a:ext>
                </a:extLst>
              </p:cNvPr>
              <p:cNvSpPr>
                <a:spLocks noGrp="1" noRot="1" noChangeAspect="1" noMove="1" noResize="1" noEditPoints="1" noAdjustHandles="1" noChangeArrowheads="1" noChangeShapeType="1" noTextEdit="1"/>
              </p:cNvSpPr>
              <p:nvPr>
                <p:ph idx="1"/>
              </p:nvPr>
            </p:nvSpPr>
            <p:spPr>
              <a:xfrm>
                <a:off x="838200" y="272143"/>
                <a:ext cx="6711696" cy="5433713"/>
              </a:xfrm>
              <a:blipFill>
                <a:blip r:embed="rId2"/>
                <a:stretch>
                  <a:fillRect l="-91" t="-2357" b="-14815"/>
                </a:stretch>
              </a:blipFill>
            </p:spPr>
            <p:txBody>
              <a:bodyPr/>
              <a:lstStyle/>
              <a:p>
                <a:r>
                  <a:rPr lang="en-IN">
                    <a:noFill/>
                  </a:rPr>
                  <a:t> </a:t>
                </a:r>
              </a:p>
            </p:txBody>
          </p:sp>
        </mc:Fallback>
      </mc:AlternateContent>
      <p:sp>
        <p:nvSpPr>
          <p:cNvPr id="6" name="Text Placeholder 5">
            <a:extLst>
              <a:ext uri="{FF2B5EF4-FFF2-40B4-BE49-F238E27FC236}">
                <a16:creationId xmlns:a16="http://schemas.microsoft.com/office/drawing/2014/main" id="{85294BFA-3CE0-331E-68EF-2858FCC1E828}"/>
              </a:ext>
            </a:extLst>
          </p:cNvPr>
          <p:cNvSpPr>
            <a:spLocks noGrp="1"/>
          </p:cNvSpPr>
          <p:nvPr>
            <p:ph type="body" sz="half" idx="2"/>
          </p:nvPr>
        </p:nvSpPr>
        <p:spPr>
          <a:xfrm>
            <a:off x="8549640" y="1719943"/>
            <a:ext cx="3424646" cy="3995057"/>
          </a:xfrm>
        </p:spPr>
        <p:txBody>
          <a:bodyPr/>
          <a:lstStyle/>
          <a:p>
            <a:endParaRPr lang="en-IN" dirty="0"/>
          </a:p>
        </p:txBody>
      </p:sp>
      <p:pic>
        <p:nvPicPr>
          <p:cNvPr id="8" name="Picture 7">
            <a:extLst>
              <a:ext uri="{FF2B5EF4-FFF2-40B4-BE49-F238E27FC236}">
                <a16:creationId xmlns:a16="http://schemas.microsoft.com/office/drawing/2014/main" id="{1C5CA69C-639B-B2B3-8AB4-573F95481124}"/>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8403771" y="1719943"/>
            <a:ext cx="3657599" cy="3995059"/>
          </a:xfrm>
          <a:prstGeom prst="rect">
            <a:avLst/>
          </a:prstGeom>
        </p:spPr>
      </p:pic>
      <p:sp>
        <p:nvSpPr>
          <p:cNvPr id="9" name="TextBox 8">
            <a:extLst>
              <a:ext uri="{FF2B5EF4-FFF2-40B4-BE49-F238E27FC236}">
                <a16:creationId xmlns:a16="http://schemas.microsoft.com/office/drawing/2014/main" id="{51DDDBEC-B80B-A62A-2FE2-445018D88093}"/>
              </a:ext>
            </a:extLst>
          </p:cNvPr>
          <p:cNvSpPr txBox="1"/>
          <p:nvPr/>
        </p:nvSpPr>
        <p:spPr>
          <a:xfrm>
            <a:off x="8549640" y="5715002"/>
            <a:ext cx="3200400" cy="230832"/>
          </a:xfrm>
          <a:prstGeom prst="rect">
            <a:avLst/>
          </a:prstGeom>
          <a:noFill/>
        </p:spPr>
        <p:txBody>
          <a:bodyPr wrap="square" rtlCol="0">
            <a:spAutoFit/>
          </a:bodyPr>
          <a:lstStyle/>
          <a:p>
            <a:r>
              <a:rPr lang="en-IN" sz="900">
                <a:hlinkClick r:id="rId4" tooltip="https://codershood.info/2019/01/01/machine-learning-logistic-regression-in-python-with-an-example/"/>
              </a:rPr>
              <a:t>This Photo</a:t>
            </a:r>
            <a:r>
              <a:rPr lang="en-IN" sz="900"/>
              <a:t> by Unknown Author is licensed under </a:t>
            </a:r>
            <a:r>
              <a:rPr lang="en-IN" sz="900">
                <a:hlinkClick r:id="rId5" tooltip="https://creativecommons.org/licenses/by/3.0/"/>
              </a:rPr>
              <a:t>CC BY</a:t>
            </a:r>
            <a:endParaRPr lang="en-IN" sz="900"/>
          </a:p>
        </p:txBody>
      </p:sp>
    </p:spTree>
    <p:extLst>
      <p:ext uri="{BB962C8B-B14F-4D97-AF65-F5344CB8AC3E}">
        <p14:creationId xmlns:p14="http://schemas.microsoft.com/office/powerpoint/2010/main" val="2187773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2BD0C-9D91-754D-6990-F0F1DF12889A}"/>
              </a:ext>
            </a:extLst>
          </p:cNvPr>
          <p:cNvSpPr>
            <a:spLocks noGrp="1"/>
          </p:cNvSpPr>
          <p:nvPr>
            <p:ph type="title"/>
          </p:nvPr>
        </p:nvSpPr>
        <p:spPr/>
        <p:txBody>
          <a:bodyPr/>
          <a:lstStyle/>
          <a:p>
            <a:r>
              <a:rPr lang="en-IN" dirty="0"/>
              <a:t>RESULTS</a:t>
            </a:r>
          </a:p>
        </p:txBody>
      </p:sp>
      <p:sp>
        <p:nvSpPr>
          <p:cNvPr id="6" name="Text Placeholder 5">
            <a:extLst>
              <a:ext uri="{FF2B5EF4-FFF2-40B4-BE49-F238E27FC236}">
                <a16:creationId xmlns:a16="http://schemas.microsoft.com/office/drawing/2014/main" id="{0792C771-C55B-BE07-F578-FF7566D64675}"/>
              </a:ext>
            </a:extLst>
          </p:cNvPr>
          <p:cNvSpPr>
            <a:spLocks noGrp="1"/>
          </p:cNvSpPr>
          <p:nvPr>
            <p:ph type="body" idx="1"/>
          </p:nvPr>
        </p:nvSpPr>
        <p:spPr>
          <a:xfrm>
            <a:off x="1066800" y="1078992"/>
            <a:ext cx="4754880" cy="1609344"/>
          </a:xfrm>
        </p:spPr>
        <p:txBody>
          <a:bodyPr>
            <a:normAutofit/>
          </a:bodyPr>
          <a:lstStyle/>
          <a:p>
            <a:r>
              <a:rPr lang="en-IN" sz="2400" dirty="0"/>
              <a:t>PREDICTIVE SYSTEM</a:t>
            </a:r>
          </a:p>
        </p:txBody>
      </p:sp>
      <p:pic>
        <p:nvPicPr>
          <p:cNvPr id="5" name="Content Placeholder 4">
            <a:extLst>
              <a:ext uri="{FF2B5EF4-FFF2-40B4-BE49-F238E27FC236}">
                <a16:creationId xmlns:a16="http://schemas.microsoft.com/office/drawing/2014/main" id="{560CA9A9-1602-91F9-7C6E-3871B611218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24256" y="2147969"/>
            <a:ext cx="5287963" cy="3886635"/>
          </a:xfrm>
          <a:prstGeom prst="rect">
            <a:avLst/>
          </a:prstGeom>
        </p:spPr>
      </p:pic>
      <p:sp>
        <p:nvSpPr>
          <p:cNvPr id="7" name="Text Placeholder 6">
            <a:extLst>
              <a:ext uri="{FF2B5EF4-FFF2-40B4-BE49-F238E27FC236}">
                <a16:creationId xmlns:a16="http://schemas.microsoft.com/office/drawing/2014/main" id="{71CEC7D7-CFBB-F72D-A429-AE7BAE113C3C}"/>
              </a:ext>
            </a:extLst>
          </p:cNvPr>
          <p:cNvSpPr>
            <a:spLocks noGrp="1"/>
          </p:cNvSpPr>
          <p:nvPr>
            <p:ph type="body" sz="quarter" idx="3"/>
          </p:nvPr>
        </p:nvSpPr>
        <p:spPr>
          <a:xfrm>
            <a:off x="6364224" y="1001486"/>
            <a:ext cx="4754880" cy="1686850"/>
          </a:xfrm>
        </p:spPr>
        <p:txBody>
          <a:bodyPr>
            <a:normAutofit/>
          </a:bodyPr>
          <a:lstStyle/>
          <a:p>
            <a:r>
              <a:rPr lang="en-IN" sz="2400" dirty="0"/>
              <a:t>ACCURACY STORE</a:t>
            </a:r>
          </a:p>
        </p:txBody>
      </p:sp>
      <p:pic>
        <p:nvPicPr>
          <p:cNvPr id="10" name="Content Placeholder 9">
            <a:extLst>
              <a:ext uri="{FF2B5EF4-FFF2-40B4-BE49-F238E27FC236}">
                <a16:creationId xmlns:a16="http://schemas.microsoft.com/office/drawing/2014/main" id="{1F8E7B25-AEF3-5B10-BD52-3FDBF3C44FF7}"/>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233658" y="2147969"/>
            <a:ext cx="5435827" cy="3886634"/>
          </a:xfrm>
          <a:prstGeom prst="rect">
            <a:avLst/>
          </a:prstGeom>
        </p:spPr>
      </p:pic>
    </p:spTree>
    <p:extLst>
      <p:ext uri="{BB962C8B-B14F-4D97-AF65-F5344CB8AC3E}">
        <p14:creationId xmlns:p14="http://schemas.microsoft.com/office/powerpoint/2010/main" val="149435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E2A8B-FEB8-16C1-149F-B8E365E66294}"/>
              </a:ext>
            </a:extLst>
          </p:cNvPr>
          <p:cNvSpPr>
            <a:spLocks noGrp="1"/>
          </p:cNvSpPr>
          <p:nvPr>
            <p:ph type="title"/>
          </p:nvPr>
        </p:nvSpPr>
        <p:spPr/>
        <p:txBody>
          <a:bodyPr/>
          <a:lstStyle/>
          <a:p>
            <a:r>
              <a:rPr lang="en-IN" dirty="0"/>
              <a:t>RESULTS</a:t>
            </a:r>
          </a:p>
        </p:txBody>
      </p:sp>
      <p:sp>
        <p:nvSpPr>
          <p:cNvPr id="3" name="Text Placeholder 2">
            <a:extLst>
              <a:ext uri="{FF2B5EF4-FFF2-40B4-BE49-F238E27FC236}">
                <a16:creationId xmlns:a16="http://schemas.microsoft.com/office/drawing/2014/main" id="{CB26473B-C0CA-E574-55C1-3764B48F6E40}"/>
              </a:ext>
            </a:extLst>
          </p:cNvPr>
          <p:cNvSpPr>
            <a:spLocks noGrp="1"/>
          </p:cNvSpPr>
          <p:nvPr>
            <p:ph type="body" idx="1"/>
          </p:nvPr>
        </p:nvSpPr>
        <p:spPr>
          <a:xfrm>
            <a:off x="1066800" y="1534886"/>
            <a:ext cx="4754880" cy="1153450"/>
          </a:xfrm>
        </p:spPr>
        <p:txBody>
          <a:bodyPr>
            <a:normAutofit fontScale="92500" lnSpcReduction="10000"/>
          </a:bodyPr>
          <a:lstStyle/>
          <a:p>
            <a:r>
              <a:rPr lang="en-IN" sz="2400" dirty="0"/>
              <a:t>STATISTICAL DATA</a:t>
            </a:r>
          </a:p>
        </p:txBody>
      </p:sp>
      <p:pic>
        <p:nvPicPr>
          <p:cNvPr id="8" name="Content Placeholder 7">
            <a:extLst>
              <a:ext uri="{FF2B5EF4-FFF2-40B4-BE49-F238E27FC236}">
                <a16:creationId xmlns:a16="http://schemas.microsoft.com/office/drawing/2014/main" id="{EC43C214-11EC-FD99-3C5F-21B1B77B65B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19341" y="2590800"/>
            <a:ext cx="5305198" cy="3537855"/>
          </a:xfrm>
          <a:prstGeom prst="rect">
            <a:avLst/>
          </a:prstGeom>
        </p:spPr>
      </p:pic>
      <p:sp>
        <p:nvSpPr>
          <p:cNvPr id="5" name="Text Placeholder 4">
            <a:extLst>
              <a:ext uri="{FF2B5EF4-FFF2-40B4-BE49-F238E27FC236}">
                <a16:creationId xmlns:a16="http://schemas.microsoft.com/office/drawing/2014/main" id="{200B894B-A06D-EF5F-70FC-C2A4EC5F47D4}"/>
              </a:ext>
            </a:extLst>
          </p:cNvPr>
          <p:cNvSpPr>
            <a:spLocks noGrp="1"/>
          </p:cNvSpPr>
          <p:nvPr>
            <p:ph type="body" sz="quarter" idx="3"/>
          </p:nvPr>
        </p:nvSpPr>
        <p:spPr>
          <a:xfrm>
            <a:off x="6363970" y="1791571"/>
            <a:ext cx="4754880" cy="640080"/>
          </a:xfrm>
        </p:spPr>
        <p:txBody>
          <a:bodyPr>
            <a:normAutofit fontScale="92500" lnSpcReduction="10000"/>
          </a:bodyPr>
          <a:lstStyle/>
          <a:p>
            <a:r>
              <a:rPr lang="en-IN" sz="2400" dirty="0"/>
              <a:t>DISTRIBUTION OF TARGET VARIABLE</a:t>
            </a:r>
          </a:p>
        </p:txBody>
      </p:sp>
      <p:pic>
        <p:nvPicPr>
          <p:cNvPr id="10" name="Content Placeholder 9">
            <a:extLst>
              <a:ext uri="{FF2B5EF4-FFF2-40B4-BE49-F238E27FC236}">
                <a16:creationId xmlns:a16="http://schemas.microsoft.com/office/drawing/2014/main" id="{E7EB6CA5-A685-307E-A92E-B6FDB7663C01}"/>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364288" y="2590801"/>
            <a:ext cx="5305198" cy="3537856"/>
          </a:xfrm>
          <a:prstGeom prst="rect">
            <a:avLst/>
          </a:prstGeom>
        </p:spPr>
      </p:pic>
    </p:spTree>
    <p:extLst>
      <p:ext uri="{BB962C8B-B14F-4D97-AF65-F5344CB8AC3E}">
        <p14:creationId xmlns:p14="http://schemas.microsoft.com/office/powerpoint/2010/main" val="1723481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30C62-043C-A924-D8C6-E4CE12220C2B}"/>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94790525-2D4A-1C7A-6A6C-EBD36CAB8981}"/>
              </a:ext>
            </a:extLst>
          </p:cNvPr>
          <p:cNvSpPr>
            <a:spLocks noGrp="1"/>
          </p:cNvSpPr>
          <p:nvPr>
            <p:ph idx="1"/>
          </p:nvPr>
        </p:nvSpPr>
        <p:spPr/>
        <p:txBody>
          <a:bodyPr/>
          <a:lstStyle/>
          <a:p>
            <a:r>
              <a:rPr lang="en-US" sz="2800" dirty="0">
                <a:latin typeface="Century" panose="02040604050505020304" pitchFamily="18" charset="0"/>
              </a:rPr>
              <a:t>Heart disease is one of the leading health risks, but early prediction can save lives. By using data and prediction methods, we can identify people at risk before serious problems occur. This helps doctors make better decisions and patients take preventive steps. In the future, these prediction tools can become more accurate and widely available, helping us fight heart disease more effectively.</a:t>
            </a:r>
          </a:p>
          <a:p>
            <a:r>
              <a:rPr lang="en-US" sz="2800" b="1" dirty="0">
                <a:latin typeface="Century" panose="02040604050505020304" pitchFamily="18" charset="0"/>
              </a:rPr>
              <a:t>Key takeaway:</a:t>
            </a:r>
            <a:r>
              <a:rPr lang="en-US" sz="2800" dirty="0">
                <a:latin typeface="Century" panose="02040604050505020304" pitchFamily="18" charset="0"/>
              </a:rPr>
              <a:t> Early detection saves lives, and technology makes it possible.</a:t>
            </a:r>
          </a:p>
          <a:p>
            <a:endParaRPr lang="en-IN" dirty="0"/>
          </a:p>
        </p:txBody>
      </p:sp>
    </p:spTree>
    <p:extLst>
      <p:ext uri="{BB962C8B-B14F-4D97-AF65-F5344CB8AC3E}">
        <p14:creationId xmlns:p14="http://schemas.microsoft.com/office/powerpoint/2010/main" val="38139068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Wood Type">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C6AE0645-98FF-411B-B0E9-59ABD78A0CC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TM03090434[[fn=Wood Type]]</Template>
  <TotalTime>161</TotalTime>
  <Words>810</Words>
  <Application>Microsoft Office PowerPoint</Application>
  <PresentationFormat>Widescreen</PresentationFormat>
  <Paragraphs>94</Paragraphs>
  <Slides>10</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Aptos</vt:lpstr>
      <vt:lpstr>Arial</vt:lpstr>
      <vt:lpstr>Baskerville Old Face</vt:lpstr>
      <vt:lpstr>Book Antiqua</vt:lpstr>
      <vt:lpstr>Cambria Math</vt:lpstr>
      <vt:lpstr>Century</vt:lpstr>
      <vt:lpstr>Georgia</vt:lpstr>
      <vt:lpstr>Trebuchet MS</vt:lpstr>
      <vt:lpstr>Wingdings</vt:lpstr>
      <vt:lpstr>Wood Type</vt:lpstr>
      <vt:lpstr>Heart disease prediction</vt:lpstr>
      <vt:lpstr>Introduction</vt:lpstr>
      <vt:lpstr>PROBLEM STATEMENT</vt:lpstr>
      <vt:lpstr>DATA PREPROCESSING</vt:lpstr>
      <vt:lpstr>METHODOLOGY</vt:lpstr>
      <vt:lpstr>PowerPoint Presentation</vt:lpstr>
      <vt:lpstr>MODEL USED</vt:lpstr>
      <vt:lpstr>RESULTS</vt:lpstr>
      <vt:lpstr>RESULTS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ayesha raza</dc:creator>
  <cp:lastModifiedBy>ayesha raza</cp:lastModifiedBy>
  <cp:revision>2</cp:revision>
  <dcterms:created xsi:type="dcterms:W3CDTF">2026-03-18T20:04:19Z</dcterms:created>
  <dcterms:modified xsi:type="dcterms:W3CDTF">2026-03-19T19:00:56Z</dcterms:modified>
</cp:coreProperties>
</file>