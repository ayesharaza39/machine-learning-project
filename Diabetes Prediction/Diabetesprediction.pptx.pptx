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notesMasterIdLst>
    <p:notesMasterId r:id="rId12"/>
  </p:notesMasterIdLst>
  <p:sldIdLst>
    <p:sldId id="256" r:id="rId2"/>
    <p:sldId id="257" r:id="rId3"/>
    <p:sldId id="259" r:id="rId4"/>
    <p:sldId id="261" r:id="rId5"/>
    <p:sldId id="262" r:id="rId6"/>
    <p:sldId id="263" r:id="rId7"/>
    <p:sldId id="264" r:id="rId8"/>
    <p:sldId id="265" r:id="rId9"/>
    <p:sldId id="268" r:id="rId10"/>
    <p:sldId id="270"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5" autoAdjust="0"/>
    <p:restoredTop sz="94660"/>
  </p:normalViewPr>
  <p:slideViewPr>
    <p:cSldViewPr snapToGrid="0">
      <p:cViewPr varScale="1">
        <p:scale>
          <a:sx n="58" d="100"/>
          <a:sy n="58" d="100"/>
        </p:scale>
        <p:origin x="72"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61842D-699F-400A-AB46-54B40C8F43BC}" type="datetimeFigureOut">
              <a:rPr lang="en-IN" smtClean="0"/>
              <a:t>20-03-2026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E944E3-B838-416C-9E9E-92B0D204B0BB}" type="slidenum">
              <a:rPr lang="en-IN" smtClean="0"/>
              <a:t>‹#›</a:t>
            </a:fld>
            <a:endParaRPr lang="en-IN"/>
          </a:p>
        </p:txBody>
      </p:sp>
    </p:spTree>
    <p:extLst>
      <p:ext uri="{BB962C8B-B14F-4D97-AF65-F5344CB8AC3E}">
        <p14:creationId xmlns:p14="http://schemas.microsoft.com/office/powerpoint/2010/main" val="1074638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0E944E3-B838-416C-9E9E-92B0D204B0BB}" type="slidenum">
              <a:rPr lang="en-IN" smtClean="0"/>
              <a:t>4</a:t>
            </a:fld>
            <a:endParaRPr lang="en-IN"/>
          </a:p>
        </p:txBody>
      </p:sp>
    </p:spTree>
    <p:extLst>
      <p:ext uri="{BB962C8B-B14F-4D97-AF65-F5344CB8AC3E}">
        <p14:creationId xmlns:p14="http://schemas.microsoft.com/office/powerpoint/2010/main" val="27673199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0E944E3-B838-416C-9E9E-92B0D204B0BB}" type="slidenum">
              <a:rPr lang="en-IN" smtClean="0"/>
              <a:t>10</a:t>
            </a:fld>
            <a:endParaRPr lang="en-IN"/>
          </a:p>
        </p:txBody>
      </p:sp>
    </p:spTree>
    <p:extLst>
      <p:ext uri="{BB962C8B-B14F-4D97-AF65-F5344CB8AC3E}">
        <p14:creationId xmlns:p14="http://schemas.microsoft.com/office/powerpoint/2010/main" val="7995279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EC3DFCC3-8E9E-4DAA-8DFB-30A197D00014}" type="datetimeFigureOut">
              <a:rPr lang="en-IN" smtClean="0"/>
              <a:t>20-03-2026</a:t>
            </a:fld>
            <a:endParaRPr lang="en-IN"/>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C9018852-C498-4C6A-9B04-E8F37A1F1B25}" type="slidenum">
              <a:rPr lang="en-IN" smtClean="0"/>
              <a:t>‹#›</a:t>
            </a:fld>
            <a:endParaRPr lang="en-IN"/>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112071432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3DFCC3-8E9E-4DAA-8DFB-30A197D00014}" type="datetimeFigureOut">
              <a:rPr lang="en-IN" smtClean="0"/>
              <a:t>20-03-2026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9018852-C498-4C6A-9B04-E8F37A1F1B25}" type="slidenum">
              <a:rPr lang="en-IN" smtClean="0"/>
              <a:t>‹#›</a:t>
            </a:fld>
            <a:endParaRPr lang="en-IN"/>
          </a:p>
        </p:txBody>
      </p:sp>
    </p:spTree>
    <p:extLst>
      <p:ext uri="{BB962C8B-B14F-4D97-AF65-F5344CB8AC3E}">
        <p14:creationId xmlns:p14="http://schemas.microsoft.com/office/powerpoint/2010/main" val="35037451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3DFCC3-8E9E-4DAA-8DFB-30A197D00014}" type="datetimeFigureOut">
              <a:rPr lang="en-IN" smtClean="0"/>
              <a:t>20-03-2026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9018852-C498-4C6A-9B04-E8F37A1F1B25}" type="slidenum">
              <a:rPr lang="en-IN" smtClean="0"/>
              <a:t>‹#›</a:t>
            </a:fld>
            <a:endParaRPr lang="en-IN"/>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9602614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C3DFCC3-8E9E-4DAA-8DFB-30A197D00014}" type="datetimeFigureOut">
              <a:rPr lang="en-IN" smtClean="0"/>
              <a:t>20-03-2026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9018852-C498-4C6A-9B04-E8F37A1F1B25}" type="slidenum">
              <a:rPr lang="en-IN" smtClean="0"/>
              <a:t>‹#›</a:t>
            </a:fld>
            <a:endParaRPr lang="en-IN"/>
          </a:p>
        </p:txBody>
      </p:sp>
    </p:spTree>
    <p:extLst>
      <p:ext uri="{BB962C8B-B14F-4D97-AF65-F5344CB8AC3E}">
        <p14:creationId xmlns:p14="http://schemas.microsoft.com/office/powerpoint/2010/main" val="29069162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C3DFCC3-8E9E-4DAA-8DFB-30A197D00014}" type="datetimeFigureOut">
              <a:rPr lang="en-IN" smtClean="0"/>
              <a:t>20-03-2026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9018852-C498-4C6A-9B04-E8F37A1F1B25}" type="slidenum">
              <a:rPr lang="en-IN" smtClean="0"/>
              <a:t>‹#›</a:t>
            </a:fld>
            <a:endParaRPr lang="en-IN"/>
          </a:p>
        </p:txBody>
      </p:sp>
    </p:spTree>
    <p:extLst>
      <p:ext uri="{BB962C8B-B14F-4D97-AF65-F5344CB8AC3E}">
        <p14:creationId xmlns:p14="http://schemas.microsoft.com/office/powerpoint/2010/main" val="4211915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C3DFCC3-8E9E-4DAA-8DFB-30A197D00014}" type="datetimeFigureOut">
              <a:rPr lang="en-IN" smtClean="0"/>
              <a:t>20-03-2026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9018852-C498-4C6A-9B04-E8F37A1F1B25}" type="slidenum">
              <a:rPr lang="en-IN" smtClean="0"/>
              <a:t>‹#›</a:t>
            </a:fld>
            <a:endParaRPr lang="en-IN"/>
          </a:p>
        </p:txBody>
      </p:sp>
    </p:spTree>
    <p:extLst>
      <p:ext uri="{BB962C8B-B14F-4D97-AF65-F5344CB8AC3E}">
        <p14:creationId xmlns:p14="http://schemas.microsoft.com/office/powerpoint/2010/main" val="7614350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3DFCC3-8E9E-4DAA-8DFB-30A197D00014}" type="datetimeFigureOut">
              <a:rPr lang="en-IN" smtClean="0"/>
              <a:t>20-03-2026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9018852-C498-4C6A-9B04-E8F37A1F1B25}" type="slidenum">
              <a:rPr lang="en-IN" smtClean="0"/>
              <a:t>‹#›</a:t>
            </a:fld>
            <a:endParaRPr lang="en-IN"/>
          </a:p>
        </p:txBody>
      </p:sp>
    </p:spTree>
    <p:extLst>
      <p:ext uri="{BB962C8B-B14F-4D97-AF65-F5344CB8AC3E}">
        <p14:creationId xmlns:p14="http://schemas.microsoft.com/office/powerpoint/2010/main" val="32658679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3DFCC3-8E9E-4DAA-8DFB-30A197D00014}" type="datetimeFigureOut">
              <a:rPr lang="en-IN" smtClean="0"/>
              <a:t>20-03-2026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9018852-C498-4C6A-9B04-E8F37A1F1B25}" type="slidenum">
              <a:rPr lang="en-IN" smtClean="0"/>
              <a:t>‹#›</a:t>
            </a:fld>
            <a:endParaRPr lang="en-IN"/>
          </a:p>
        </p:txBody>
      </p:sp>
    </p:spTree>
    <p:extLst>
      <p:ext uri="{BB962C8B-B14F-4D97-AF65-F5344CB8AC3E}">
        <p14:creationId xmlns:p14="http://schemas.microsoft.com/office/powerpoint/2010/main" val="16520430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3DFCC3-8E9E-4DAA-8DFB-30A197D00014}" type="datetimeFigureOut">
              <a:rPr lang="en-IN" smtClean="0"/>
              <a:t>20-03-2026</a:t>
            </a:fld>
            <a:endParaRPr lang="en-IN"/>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9018852-C498-4C6A-9B04-E8F37A1F1B25}" type="slidenum">
              <a:rPr lang="en-IN" smtClean="0"/>
              <a:t>‹#›</a:t>
            </a:fld>
            <a:endParaRPr lang="en-IN"/>
          </a:p>
        </p:txBody>
      </p:sp>
    </p:spTree>
    <p:extLst>
      <p:ext uri="{BB962C8B-B14F-4D97-AF65-F5344CB8AC3E}">
        <p14:creationId xmlns:p14="http://schemas.microsoft.com/office/powerpoint/2010/main" val="2790826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3DFCC3-8E9E-4DAA-8DFB-30A197D00014}" type="datetimeFigureOut">
              <a:rPr lang="en-IN" smtClean="0"/>
              <a:t>20-03-2026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9018852-C498-4C6A-9B04-E8F37A1F1B25}" type="slidenum">
              <a:rPr lang="en-IN" smtClean="0"/>
              <a:t>‹#›</a:t>
            </a:fld>
            <a:endParaRPr lang="en-IN"/>
          </a:p>
        </p:txBody>
      </p:sp>
    </p:spTree>
    <p:extLst>
      <p:ext uri="{BB962C8B-B14F-4D97-AF65-F5344CB8AC3E}">
        <p14:creationId xmlns:p14="http://schemas.microsoft.com/office/powerpoint/2010/main" val="3068674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3DFCC3-8E9E-4DAA-8DFB-30A197D00014}" type="datetimeFigureOut">
              <a:rPr lang="en-IN" smtClean="0"/>
              <a:t>20-03-2026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9018852-C498-4C6A-9B04-E8F37A1F1B25}" type="slidenum">
              <a:rPr lang="en-IN" smtClean="0"/>
              <a:t>‹#›</a:t>
            </a:fld>
            <a:endParaRPr lang="en-IN"/>
          </a:p>
        </p:txBody>
      </p:sp>
    </p:spTree>
    <p:extLst>
      <p:ext uri="{BB962C8B-B14F-4D97-AF65-F5344CB8AC3E}">
        <p14:creationId xmlns:p14="http://schemas.microsoft.com/office/powerpoint/2010/main" val="20035496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EC3DFCC3-8E9E-4DAA-8DFB-30A197D00014}" type="datetimeFigureOut">
              <a:rPr lang="en-IN" smtClean="0"/>
              <a:t>20-03-2026</a:t>
            </a:fld>
            <a:endParaRPr lang="en-IN"/>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IN"/>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C9018852-C498-4C6A-9B04-E8F37A1F1B25}" type="slidenum">
              <a:rPr lang="en-IN" smtClean="0"/>
              <a:t>‹#›</a:t>
            </a:fld>
            <a:endParaRPr lang="en-IN"/>
          </a:p>
        </p:txBody>
      </p:sp>
    </p:spTree>
    <p:extLst>
      <p:ext uri="{BB962C8B-B14F-4D97-AF65-F5344CB8AC3E}">
        <p14:creationId xmlns:p14="http://schemas.microsoft.com/office/powerpoint/2010/main" val="3448151568"/>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emssolutionsint.blogspot.com/2016/12/cetoacidosis-la-diabetes-y-sus.html" TargetMode="External"/><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hyperlink" Target="https://creativecommons.org/licenses/by-nc-nd/3.0/"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indjst.org/articles/machine-learning-algorithms-for-diabetes-prediction-and-neural-network-method-for-blood-glucose-measurement" TargetMode="External"/><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www.codershood.info/2019/01/10/support-vector-machine-machine-learning-algorithm-with-example-and-code/" TargetMode="External"/><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8C09DB0-B397-50B3-8FE4-E6E5BD34F0F0}"/>
              </a:ext>
            </a:extLst>
          </p:cNvPr>
          <p:cNvSpPr>
            <a:spLocks noGrp="1"/>
          </p:cNvSpPr>
          <p:nvPr>
            <p:ph type="ctrTitle"/>
          </p:nvPr>
        </p:nvSpPr>
        <p:spPr/>
        <p:txBody>
          <a:bodyPr>
            <a:normAutofit/>
          </a:bodyPr>
          <a:lstStyle/>
          <a:p>
            <a:r>
              <a:rPr lang="en-IN" dirty="0"/>
              <a:t>DIABETES            PREDICTION</a:t>
            </a:r>
            <a:br>
              <a:rPr lang="en-IN" dirty="0"/>
            </a:br>
            <a:r>
              <a:rPr lang="en-IN" sz="2400" i="1" dirty="0"/>
              <a:t>USING MACHINE LEARNING </a:t>
            </a:r>
            <a:br>
              <a:rPr lang="en-IN" dirty="0"/>
            </a:br>
            <a:endParaRPr lang="en-IN" sz="2800" dirty="0"/>
          </a:p>
        </p:txBody>
      </p:sp>
      <p:sp>
        <p:nvSpPr>
          <p:cNvPr id="7" name="Subtitle 6">
            <a:extLst>
              <a:ext uri="{FF2B5EF4-FFF2-40B4-BE49-F238E27FC236}">
                <a16:creationId xmlns:a16="http://schemas.microsoft.com/office/drawing/2014/main" id="{11187F8F-13FB-33A5-6818-C63CAE9D36C7}"/>
              </a:ext>
            </a:extLst>
          </p:cNvPr>
          <p:cNvSpPr>
            <a:spLocks noGrp="1"/>
          </p:cNvSpPr>
          <p:nvPr>
            <p:ph type="subTitle" idx="1"/>
          </p:nvPr>
        </p:nvSpPr>
        <p:spPr>
          <a:xfrm>
            <a:off x="8246364" y="5029200"/>
            <a:ext cx="7891272" cy="1069848"/>
          </a:xfrm>
        </p:spPr>
        <p:txBody>
          <a:bodyPr>
            <a:normAutofit fontScale="70000" lnSpcReduction="20000"/>
          </a:bodyPr>
          <a:lstStyle/>
          <a:p>
            <a:r>
              <a:rPr lang="en-IN" i="1" dirty="0">
                <a:solidFill>
                  <a:schemeClr val="tx1"/>
                </a:solidFill>
              </a:rPr>
              <a:t>PROJECT BY:</a:t>
            </a:r>
          </a:p>
          <a:p>
            <a:r>
              <a:rPr lang="en-IN" i="1" dirty="0">
                <a:solidFill>
                  <a:schemeClr val="tx1"/>
                </a:solidFill>
              </a:rPr>
              <a:t>AYESHA RAZA</a:t>
            </a:r>
          </a:p>
          <a:p>
            <a:r>
              <a:rPr lang="en-IN" i="1" dirty="0">
                <a:solidFill>
                  <a:schemeClr val="tx1"/>
                </a:solidFill>
              </a:rPr>
              <a:t>NAVIOTECH.PVT.LTD</a:t>
            </a:r>
          </a:p>
        </p:txBody>
      </p:sp>
    </p:spTree>
    <p:extLst>
      <p:ext uri="{BB962C8B-B14F-4D97-AF65-F5344CB8AC3E}">
        <p14:creationId xmlns:p14="http://schemas.microsoft.com/office/powerpoint/2010/main" val="34363399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9AFAB-E474-AC36-C352-227137B6C833}"/>
              </a:ext>
            </a:extLst>
          </p:cNvPr>
          <p:cNvSpPr>
            <a:spLocks noGrp="1"/>
          </p:cNvSpPr>
          <p:nvPr>
            <p:ph type="title"/>
          </p:nvPr>
        </p:nvSpPr>
        <p:spPr>
          <a:xfrm>
            <a:off x="200722" y="-355406"/>
            <a:ext cx="9692640" cy="1325562"/>
          </a:xfrm>
        </p:spPr>
        <p:txBody>
          <a:bodyPr/>
          <a:lstStyle/>
          <a:p>
            <a:r>
              <a:rPr lang="en-IN" dirty="0"/>
              <a:t>INTRODUCTION</a:t>
            </a:r>
          </a:p>
        </p:txBody>
      </p:sp>
      <p:sp>
        <p:nvSpPr>
          <p:cNvPr id="3" name="Content Placeholder 2">
            <a:extLst>
              <a:ext uri="{FF2B5EF4-FFF2-40B4-BE49-F238E27FC236}">
                <a16:creationId xmlns:a16="http://schemas.microsoft.com/office/drawing/2014/main" id="{58CA2996-1065-DD5D-801F-BC57115F4603}"/>
              </a:ext>
            </a:extLst>
          </p:cNvPr>
          <p:cNvSpPr>
            <a:spLocks noGrp="1"/>
          </p:cNvSpPr>
          <p:nvPr>
            <p:ph idx="1"/>
          </p:nvPr>
        </p:nvSpPr>
        <p:spPr>
          <a:xfrm>
            <a:off x="0" y="1253331"/>
            <a:ext cx="8595360" cy="4351337"/>
          </a:xfrm>
        </p:spPr>
        <p:txBody>
          <a:bodyPr/>
          <a:lstStyle/>
          <a:p>
            <a:r>
              <a:rPr lang="en-US" dirty="0"/>
              <a:t>Diabetes is a chronic disease that occurs when the body is unable to properly regulate blood glucose levels. It has become a major global health concern, affecting millions of people worldwide. Early detection and timely treatment are crucial to prevent serious complications such as heart disease, kidney failure, and nerve damage.</a:t>
            </a:r>
          </a:p>
          <a:p>
            <a:r>
              <a:rPr lang="en-US" dirty="0"/>
              <a:t>With the advancement of technology, </a:t>
            </a:r>
            <a:r>
              <a:rPr lang="en-US" b="1" dirty="0"/>
              <a:t>Machine Learning (ML)</a:t>
            </a:r>
            <a:r>
              <a:rPr lang="en-US" dirty="0"/>
              <a:t> has emerged as a powerful tool in the healthcare sector. It enables the analysis of large medical datasets to identify patterns and make accurate predictions.</a:t>
            </a:r>
          </a:p>
          <a:p>
            <a:r>
              <a:rPr lang="en-US" dirty="0"/>
              <a:t>This project focuses on using machine learning algorithms to predict the likelihood of diabetes in patients based on various health parameters such as glucose level, blood pressure, BMI, age, and insulin levels. By leveraging these techniques, we aim to assist healthcare professionals in making faster and more accurate diagnoses</a:t>
            </a:r>
          </a:p>
          <a:p>
            <a:endParaRPr lang="en-IN" dirty="0"/>
          </a:p>
        </p:txBody>
      </p:sp>
      <p:pic>
        <p:nvPicPr>
          <p:cNvPr id="5" name="Picture 4">
            <a:extLst>
              <a:ext uri="{FF2B5EF4-FFF2-40B4-BE49-F238E27FC236}">
                <a16:creationId xmlns:a16="http://schemas.microsoft.com/office/drawing/2014/main" id="{D79E3082-FE04-0C9B-1090-235A5156F58B}"/>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498690" y="970156"/>
            <a:ext cx="3322675" cy="3900504"/>
          </a:xfrm>
          <a:prstGeom prst="rect">
            <a:avLst/>
          </a:prstGeom>
        </p:spPr>
      </p:pic>
      <p:sp>
        <p:nvSpPr>
          <p:cNvPr id="6" name="TextBox 5">
            <a:extLst>
              <a:ext uri="{FF2B5EF4-FFF2-40B4-BE49-F238E27FC236}">
                <a16:creationId xmlns:a16="http://schemas.microsoft.com/office/drawing/2014/main" id="{D6F26D81-A182-256B-E558-B365F64DEAFD}"/>
              </a:ext>
            </a:extLst>
          </p:cNvPr>
          <p:cNvSpPr txBox="1"/>
          <p:nvPr/>
        </p:nvSpPr>
        <p:spPr>
          <a:xfrm>
            <a:off x="10884664" y="4685994"/>
            <a:ext cx="2533880" cy="369332"/>
          </a:xfrm>
          <a:prstGeom prst="rect">
            <a:avLst/>
          </a:prstGeom>
          <a:noFill/>
        </p:spPr>
        <p:txBody>
          <a:bodyPr wrap="square" rtlCol="0">
            <a:spAutoFit/>
          </a:bodyPr>
          <a:lstStyle/>
          <a:p>
            <a:r>
              <a:rPr lang="en-IN" sz="900">
                <a:hlinkClick r:id="rId3" tooltip="http://emssolutionsint.blogspot.com/2016/12/cetoacidosis-la-diabetes-y-sus.html"/>
              </a:rPr>
              <a:t>This Photo</a:t>
            </a:r>
            <a:r>
              <a:rPr lang="en-IN" sz="900"/>
              <a:t> by Unknown Author is licensed under </a:t>
            </a:r>
            <a:r>
              <a:rPr lang="en-IN" sz="900">
                <a:hlinkClick r:id="rId4" tooltip="https://creativecommons.org/licenses/by-nc-nd/3.0/"/>
              </a:rPr>
              <a:t>CC BY-NC-ND</a:t>
            </a:r>
            <a:endParaRPr lang="en-IN" sz="900"/>
          </a:p>
        </p:txBody>
      </p:sp>
    </p:spTree>
    <p:extLst>
      <p:ext uri="{BB962C8B-B14F-4D97-AF65-F5344CB8AC3E}">
        <p14:creationId xmlns:p14="http://schemas.microsoft.com/office/powerpoint/2010/main" val="35999924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F7EB8-D237-F468-FD10-FAF1D318C784}"/>
              </a:ext>
            </a:extLst>
          </p:cNvPr>
          <p:cNvSpPr>
            <a:spLocks noGrp="1"/>
          </p:cNvSpPr>
          <p:nvPr>
            <p:ph type="title"/>
          </p:nvPr>
        </p:nvSpPr>
        <p:spPr/>
        <p:txBody>
          <a:bodyPr/>
          <a:lstStyle/>
          <a:p>
            <a:r>
              <a:rPr lang="en-IN" dirty="0"/>
              <a:t>PROBLEM STATEMENT </a:t>
            </a:r>
          </a:p>
        </p:txBody>
      </p:sp>
      <p:sp>
        <p:nvSpPr>
          <p:cNvPr id="3" name="Content Placeholder 2">
            <a:extLst>
              <a:ext uri="{FF2B5EF4-FFF2-40B4-BE49-F238E27FC236}">
                <a16:creationId xmlns:a16="http://schemas.microsoft.com/office/drawing/2014/main" id="{605B29D9-2261-3777-009C-C5F6EBF6266A}"/>
              </a:ext>
            </a:extLst>
          </p:cNvPr>
          <p:cNvSpPr>
            <a:spLocks noGrp="1"/>
          </p:cNvSpPr>
          <p:nvPr>
            <p:ph idx="1"/>
          </p:nvPr>
        </p:nvSpPr>
        <p:spPr/>
        <p:txBody>
          <a:bodyPr>
            <a:normAutofit fontScale="92500" lnSpcReduction="20000"/>
          </a:bodyPr>
          <a:lstStyle/>
          <a:p>
            <a:r>
              <a:rPr lang="en-IN" dirty="0"/>
              <a:t>Diabetes is a widespread chronic disease requiring early detection</a:t>
            </a:r>
          </a:p>
          <a:p>
            <a:r>
              <a:rPr lang="en-IN" dirty="0"/>
              <a:t>Traditional diagnosis methods can be slow , costly , and less efficient</a:t>
            </a:r>
          </a:p>
          <a:p>
            <a:r>
              <a:rPr lang="en-IN" dirty="0"/>
              <a:t>Need for an automated and accurate prediction system</a:t>
            </a:r>
          </a:p>
          <a:p>
            <a:r>
              <a:rPr lang="en-IN" dirty="0"/>
              <a:t>Use patient health data (glucose, BMI, age, insulin, etc.)for prediction</a:t>
            </a:r>
          </a:p>
          <a:p>
            <a:r>
              <a:rPr lang="en-IN" dirty="0"/>
              <a:t>Apply machine learning algorithm for classification</a:t>
            </a:r>
          </a:p>
          <a:p>
            <a:r>
              <a:rPr lang="en-IN" dirty="0"/>
              <a:t>Handle challenges like missing data and imbalanced datasets</a:t>
            </a:r>
          </a:p>
          <a:p>
            <a:r>
              <a:rPr lang="en-IN" dirty="0"/>
              <a:t>Improve prediction accuracy and reduce diagnosis time</a:t>
            </a:r>
          </a:p>
          <a:p>
            <a:r>
              <a:rPr lang="en-IN" dirty="0"/>
              <a:t>Assist doctors in faster and better decision making </a:t>
            </a:r>
          </a:p>
          <a:p>
            <a:r>
              <a:rPr lang="en-IN" dirty="0"/>
              <a:t>Diabetes are rapidly increasing global </a:t>
            </a:r>
            <a:r>
              <a:rPr lang="en-IN" dirty="0" err="1"/>
              <a:t>isse</a:t>
            </a:r>
            <a:endParaRPr lang="en-IN" dirty="0"/>
          </a:p>
          <a:p>
            <a:r>
              <a:rPr lang="en-IN" dirty="0"/>
              <a:t>Early detection is crucial to prevent severe complications </a:t>
            </a:r>
          </a:p>
          <a:p>
            <a:r>
              <a:rPr lang="en-IN" dirty="0"/>
              <a:t>Manual diagnosis depends heavily on doctor’s experience</a:t>
            </a:r>
          </a:p>
        </p:txBody>
      </p:sp>
    </p:spTree>
    <p:extLst>
      <p:ext uri="{BB962C8B-B14F-4D97-AF65-F5344CB8AC3E}">
        <p14:creationId xmlns:p14="http://schemas.microsoft.com/office/powerpoint/2010/main" val="3463829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BEB93-5A83-F481-84BD-ABA7F7CF9F9B}"/>
              </a:ext>
            </a:extLst>
          </p:cNvPr>
          <p:cNvSpPr>
            <a:spLocks noGrp="1"/>
          </p:cNvSpPr>
          <p:nvPr>
            <p:ph type="title"/>
          </p:nvPr>
        </p:nvSpPr>
        <p:spPr>
          <a:xfrm>
            <a:off x="909332" y="-207024"/>
            <a:ext cx="9692640" cy="1325562"/>
          </a:xfrm>
        </p:spPr>
        <p:txBody>
          <a:bodyPr/>
          <a:lstStyle/>
          <a:p>
            <a:r>
              <a:rPr lang="en-IN" dirty="0"/>
              <a:t>DATA PREPROCESSING</a:t>
            </a:r>
          </a:p>
        </p:txBody>
      </p:sp>
      <p:sp>
        <p:nvSpPr>
          <p:cNvPr id="3" name="Content Placeholder 2">
            <a:extLst>
              <a:ext uri="{FF2B5EF4-FFF2-40B4-BE49-F238E27FC236}">
                <a16:creationId xmlns:a16="http://schemas.microsoft.com/office/drawing/2014/main" id="{D5E6DF5B-3783-3312-C084-9B1E62760A19}"/>
              </a:ext>
            </a:extLst>
          </p:cNvPr>
          <p:cNvSpPr>
            <a:spLocks noGrp="1"/>
          </p:cNvSpPr>
          <p:nvPr>
            <p:ph idx="1"/>
          </p:nvPr>
        </p:nvSpPr>
        <p:spPr>
          <a:xfrm>
            <a:off x="909332" y="1388125"/>
            <a:ext cx="8595360" cy="4351337"/>
          </a:xfrm>
        </p:spPr>
        <p:txBody>
          <a:bodyPr>
            <a:normAutofit fontScale="25000" lnSpcReduction="20000"/>
          </a:bodyPr>
          <a:lstStyle/>
          <a:p>
            <a:r>
              <a:rPr lang="en-IN" sz="7200" dirty="0"/>
              <a:t>Commonly used dataset id </a:t>
            </a:r>
            <a:r>
              <a:rPr lang="en-IN" sz="7200" b="1" dirty="0"/>
              <a:t>PIMS INDIANS DIABETES DATASET</a:t>
            </a:r>
          </a:p>
          <a:p>
            <a:r>
              <a:rPr lang="en-IN" sz="7200" dirty="0"/>
              <a:t>Available on platforms like </a:t>
            </a:r>
            <a:r>
              <a:rPr lang="en-IN" sz="7200" b="1" dirty="0"/>
              <a:t>Kaggle and UCI Machine Repository</a:t>
            </a:r>
          </a:p>
          <a:p>
            <a:r>
              <a:rPr lang="en-IN" sz="7200" dirty="0"/>
              <a:t>Contains medical records of female patients of Pima Indian Heritage</a:t>
            </a:r>
          </a:p>
          <a:p>
            <a:r>
              <a:rPr lang="en-IN" sz="7200" dirty="0"/>
              <a:t>Total number of instances:768</a:t>
            </a:r>
          </a:p>
          <a:p>
            <a:r>
              <a:rPr lang="en-IN" sz="7200" dirty="0"/>
              <a:t>Number of attributes/features :8 input features+1 output</a:t>
            </a:r>
          </a:p>
          <a:p>
            <a:r>
              <a:rPr lang="en-IN" sz="7200" b="1" dirty="0"/>
              <a:t>FEATURES:</a:t>
            </a:r>
          </a:p>
          <a:p>
            <a:r>
              <a:rPr lang="en-IN" sz="7200" dirty="0"/>
              <a:t>Pregnancies</a:t>
            </a:r>
          </a:p>
          <a:p>
            <a:r>
              <a:rPr lang="en-IN" sz="7200" dirty="0"/>
              <a:t>Glucose</a:t>
            </a:r>
          </a:p>
          <a:p>
            <a:r>
              <a:rPr lang="en-IN" sz="7200" dirty="0"/>
              <a:t>Skin Thickness</a:t>
            </a:r>
          </a:p>
          <a:p>
            <a:r>
              <a:rPr lang="en-IN" sz="7200" dirty="0"/>
              <a:t>Insulin</a:t>
            </a:r>
          </a:p>
          <a:p>
            <a:r>
              <a:rPr lang="en-IN" sz="7200" dirty="0"/>
              <a:t>BMI</a:t>
            </a:r>
          </a:p>
          <a:p>
            <a:r>
              <a:rPr lang="en-IN" sz="7200" dirty="0"/>
              <a:t>Diabetes Pedigree Function</a:t>
            </a:r>
          </a:p>
          <a:p>
            <a:r>
              <a:rPr lang="en-IN" sz="7200" dirty="0"/>
              <a:t>AGE</a:t>
            </a:r>
          </a:p>
          <a:p>
            <a:pPr marL="0" indent="0">
              <a:buNone/>
            </a:pPr>
            <a:r>
              <a:rPr lang="en-IN" dirty="0"/>
              <a:t>  </a:t>
            </a:r>
          </a:p>
        </p:txBody>
      </p:sp>
    </p:spTree>
    <p:extLst>
      <p:ext uri="{BB962C8B-B14F-4D97-AF65-F5344CB8AC3E}">
        <p14:creationId xmlns:p14="http://schemas.microsoft.com/office/powerpoint/2010/main" val="34206047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DD5F6-628E-B3E4-9F0A-193FABE2093D}"/>
              </a:ext>
            </a:extLst>
          </p:cNvPr>
          <p:cNvSpPr>
            <a:spLocks noGrp="1"/>
          </p:cNvSpPr>
          <p:nvPr>
            <p:ph type="title"/>
          </p:nvPr>
        </p:nvSpPr>
        <p:spPr>
          <a:xfrm>
            <a:off x="986449" y="-292179"/>
            <a:ext cx="9692640" cy="1325562"/>
          </a:xfrm>
        </p:spPr>
        <p:txBody>
          <a:bodyPr/>
          <a:lstStyle/>
          <a:p>
            <a:r>
              <a:rPr lang="en-IN" dirty="0"/>
              <a:t>METHODOLOGY</a:t>
            </a:r>
          </a:p>
        </p:txBody>
      </p:sp>
      <p:sp>
        <p:nvSpPr>
          <p:cNvPr id="4" name="Rectangle 1">
            <a:extLst>
              <a:ext uri="{FF2B5EF4-FFF2-40B4-BE49-F238E27FC236}">
                <a16:creationId xmlns:a16="http://schemas.microsoft.com/office/drawing/2014/main" id="{E36C4D60-E291-0792-8F91-1F5FDE5F5E6E}"/>
              </a:ext>
            </a:extLst>
          </p:cNvPr>
          <p:cNvSpPr>
            <a:spLocks noGrp="1" noChangeArrowheads="1"/>
          </p:cNvSpPr>
          <p:nvPr>
            <p:ph idx="1"/>
          </p:nvPr>
        </p:nvSpPr>
        <p:spPr bwMode="auto">
          <a:xfrm>
            <a:off x="986449" y="1149417"/>
            <a:ext cx="7329251" cy="5416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1717120" lvl="6" indent="0" eaLnBrk="0" fontAlgn="base" hangingPunct="0">
              <a:lnSpc>
                <a:spcPct val="100000"/>
              </a:lnSpc>
              <a:spcBef>
                <a:spcPct val="0"/>
              </a:spcBef>
              <a:spcAft>
                <a:spcPct val="0"/>
              </a:spcAft>
              <a:buClrTx/>
              <a:buNone/>
            </a:pPr>
            <a:endParaRPr kumimoji="0" lang="en-US" altLang="en-US" sz="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entury" panose="02040604050505020304" pitchFamily="18" charset="0"/>
              </a:rPr>
              <a:t>Exploratory Data Analysis (EDA)</a:t>
            </a:r>
            <a:endParaRPr kumimoji="0" lang="en-US" altLang="en-US" b="0" i="0" u="none" strike="noStrike" cap="none" normalizeH="0" baseline="0" dirty="0">
              <a:ln>
                <a:noFill/>
              </a:ln>
              <a:solidFill>
                <a:schemeClr val="tx1"/>
              </a:solidFill>
              <a:effectLst/>
              <a:latin typeface="Century" panose="020406040505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entury" panose="02040604050505020304" pitchFamily="18" charset="0"/>
              </a:rPr>
              <a:t>Analyze feature distributions and relationships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entury" panose="02040604050505020304" pitchFamily="18" charset="0"/>
              </a:rPr>
              <a:t>Identify correlations between input variables and target variable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entury" panose="02040604050505020304" pitchFamily="18" charset="0"/>
              </a:rPr>
              <a:t>Visualize data using graphs (histograms, heatmaps, etc.)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entury" panose="02040604050505020304" pitchFamily="18" charset="0"/>
              </a:rPr>
              <a:t>Feature Selection</a:t>
            </a:r>
            <a:endParaRPr kumimoji="0" lang="en-US" altLang="en-US" b="0" i="0" u="none" strike="noStrike" cap="none" normalizeH="0" baseline="0" dirty="0">
              <a:ln>
                <a:noFill/>
              </a:ln>
              <a:solidFill>
                <a:schemeClr val="tx1"/>
              </a:solidFill>
              <a:effectLst/>
              <a:latin typeface="Century" panose="020406040505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entury" panose="02040604050505020304" pitchFamily="18" charset="0"/>
              </a:rPr>
              <a:t>Select important features contributing to prediction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entury" panose="02040604050505020304" pitchFamily="18" charset="0"/>
              </a:rPr>
              <a:t>Remove redundant or less relevant attributes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entury" panose="02040604050505020304" pitchFamily="18" charset="0"/>
              </a:rPr>
              <a:t>Data Splitting</a:t>
            </a:r>
            <a:endParaRPr kumimoji="0" lang="en-US" altLang="en-US" b="0" i="0" u="none" strike="noStrike" cap="none" normalizeH="0" baseline="0" dirty="0">
              <a:ln>
                <a:noFill/>
              </a:ln>
              <a:solidFill>
                <a:schemeClr val="tx1"/>
              </a:solidFill>
              <a:effectLst/>
              <a:latin typeface="Century" panose="020406040505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entury" panose="02040604050505020304" pitchFamily="18" charset="0"/>
              </a:rPr>
              <a:t>Divide dataset into:</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panose="02040604050505020304" pitchFamily="18" charset="0"/>
              </a:rPr>
              <a:t>Training set (e.g., 70–80%)</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panose="02040604050505020304" pitchFamily="18" charset="0"/>
              </a:rPr>
              <a:t>Testing set (e.g., 20–30%)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entury" panose="02040604050505020304" pitchFamily="18" charset="0"/>
              </a:rPr>
              <a:t>Model Selection &amp; Training</a:t>
            </a:r>
            <a:endParaRPr kumimoji="0" lang="en-US" altLang="en-US" b="0" i="0" u="none" strike="noStrike" cap="none" normalizeH="0" baseline="0" dirty="0">
              <a:ln>
                <a:noFill/>
              </a:ln>
              <a:solidFill>
                <a:schemeClr val="tx1"/>
              </a:solidFill>
              <a:effectLst/>
              <a:latin typeface="Century" panose="020406040505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entury" panose="02040604050505020304" pitchFamily="18" charset="0"/>
              </a:rPr>
              <a:t>Apply multiple Machine Learning algorithms: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panose="02040604050505020304" pitchFamily="18" charset="0"/>
              </a:rPr>
              <a:t>Logistic Regression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panose="02040604050505020304" pitchFamily="18" charset="0"/>
              </a:rPr>
              <a:t>Decision Tree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panose="02040604050505020304" pitchFamily="18" charset="0"/>
              </a:rPr>
              <a:t>Random Forest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panose="02040604050505020304" pitchFamily="18" charset="0"/>
              </a:rPr>
              <a:t>Support Vector Machine (SVM)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entury" panose="02040604050505020304" pitchFamily="18" charset="0"/>
              </a:rPr>
              <a:t>Train models using training data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58629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68B4EB-D556-0D06-AF77-14E7ADDB49AB}"/>
              </a:ext>
            </a:extLst>
          </p:cNvPr>
          <p:cNvSpPr>
            <a:spLocks noGrp="1"/>
          </p:cNvSpPr>
          <p:nvPr>
            <p:ph type="body" sz="half" idx="2"/>
          </p:nvPr>
        </p:nvSpPr>
        <p:spPr>
          <a:xfrm>
            <a:off x="495560" y="685800"/>
            <a:ext cx="3200400" cy="3810001"/>
          </a:xfrm>
        </p:spPr>
        <p:txBody>
          <a:bodyPr>
            <a:normAutofit fontScale="25000" lnSpcReduction="20000"/>
          </a:bodyPr>
          <a:lstStyle/>
          <a:p>
            <a:r>
              <a:rPr lang="en-IN" sz="7200" b="1" dirty="0"/>
              <a:t>Model evaluation</a:t>
            </a:r>
          </a:p>
          <a:p>
            <a:r>
              <a:rPr lang="en-IN" sz="7200" dirty="0"/>
              <a:t>Evaluate performance using metrics</a:t>
            </a:r>
          </a:p>
          <a:p>
            <a:r>
              <a:rPr lang="en-IN" sz="7200" dirty="0"/>
              <a:t>Accuracy</a:t>
            </a:r>
          </a:p>
          <a:p>
            <a:r>
              <a:rPr lang="en-IN" sz="7200" dirty="0"/>
              <a:t>Precision</a:t>
            </a:r>
          </a:p>
          <a:p>
            <a:r>
              <a:rPr lang="en-IN" sz="7200" dirty="0"/>
              <a:t>Recall </a:t>
            </a:r>
          </a:p>
          <a:p>
            <a:r>
              <a:rPr lang="en-IN" sz="7200" dirty="0"/>
              <a:t>F-1 Score</a:t>
            </a:r>
          </a:p>
          <a:p>
            <a:r>
              <a:rPr lang="en-IN" sz="7200" dirty="0"/>
              <a:t>ROC-AUC</a:t>
            </a:r>
          </a:p>
          <a:p>
            <a:r>
              <a:rPr lang="en-IN" sz="7200" b="1" dirty="0"/>
              <a:t>Model Optimization</a:t>
            </a:r>
          </a:p>
          <a:p>
            <a:r>
              <a:rPr lang="en-IN" sz="7200" dirty="0"/>
              <a:t>Perform hyperparameter tuning</a:t>
            </a:r>
          </a:p>
          <a:p>
            <a:r>
              <a:rPr lang="en-IN" sz="7200" dirty="0"/>
              <a:t>Use cross validation to improve </a:t>
            </a:r>
            <a:r>
              <a:rPr lang="en-IN" sz="7200" dirty="0" err="1"/>
              <a:t>genralization</a:t>
            </a:r>
            <a:endParaRPr lang="en-IN" sz="7200" dirty="0"/>
          </a:p>
          <a:p>
            <a:endParaRPr lang="en-IN" dirty="0"/>
          </a:p>
        </p:txBody>
      </p:sp>
      <p:sp>
        <p:nvSpPr>
          <p:cNvPr id="6" name="Rectangle 2">
            <a:extLst>
              <a:ext uri="{FF2B5EF4-FFF2-40B4-BE49-F238E27FC236}">
                <a16:creationId xmlns:a16="http://schemas.microsoft.com/office/drawing/2014/main" id="{2985D423-3FD6-9E74-7DE4-0C7A2C494B25}"/>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9" name="Picture 8">
            <a:extLst>
              <a:ext uri="{FF2B5EF4-FFF2-40B4-BE49-F238E27FC236}">
                <a16:creationId xmlns:a16="http://schemas.microsoft.com/office/drawing/2014/main" id="{B2DD67F4-6DE1-3514-C74F-0004B97DBD9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197427" y="571579"/>
            <a:ext cx="6026226" cy="5168210"/>
          </a:xfrm>
          <a:prstGeom prst="rect">
            <a:avLst/>
          </a:prstGeom>
        </p:spPr>
      </p:pic>
    </p:spTree>
    <p:extLst>
      <p:ext uri="{BB962C8B-B14F-4D97-AF65-F5344CB8AC3E}">
        <p14:creationId xmlns:p14="http://schemas.microsoft.com/office/powerpoint/2010/main" val="1280584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086BE-BCC4-2D18-3B37-35A5C871371B}"/>
              </a:ext>
            </a:extLst>
          </p:cNvPr>
          <p:cNvSpPr>
            <a:spLocks noGrp="1"/>
          </p:cNvSpPr>
          <p:nvPr>
            <p:ph type="title"/>
          </p:nvPr>
        </p:nvSpPr>
        <p:spPr>
          <a:xfrm>
            <a:off x="1172562" y="323555"/>
            <a:ext cx="9692640" cy="1325562"/>
          </a:xfrm>
        </p:spPr>
        <p:txBody>
          <a:bodyPr/>
          <a:lstStyle/>
          <a:p>
            <a:r>
              <a:rPr lang="en-IN" dirty="0"/>
              <a:t>MODEL USED</a:t>
            </a:r>
            <a:br>
              <a:rPr lang="en-IN" dirty="0"/>
            </a:br>
            <a:endParaRPr lang="en-IN" sz="2800" dirty="0"/>
          </a:p>
        </p:txBody>
      </p:sp>
      <p:sp>
        <p:nvSpPr>
          <p:cNvPr id="3" name="Content Placeholder 2">
            <a:extLst>
              <a:ext uri="{FF2B5EF4-FFF2-40B4-BE49-F238E27FC236}">
                <a16:creationId xmlns:a16="http://schemas.microsoft.com/office/drawing/2014/main" id="{3D27948A-4298-AA91-5CF7-919114AC8C39}"/>
              </a:ext>
            </a:extLst>
          </p:cNvPr>
          <p:cNvSpPr>
            <a:spLocks noGrp="1"/>
          </p:cNvSpPr>
          <p:nvPr>
            <p:ph idx="1"/>
          </p:nvPr>
        </p:nvSpPr>
        <p:spPr>
          <a:xfrm>
            <a:off x="964417" y="1399142"/>
            <a:ext cx="8595360" cy="4351337"/>
          </a:xfrm>
        </p:spPr>
        <p:txBody>
          <a:bodyPr>
            <a:normAutofit fontScale="25000" lnSpcReduction="20000"/>
          </a:bodyPr>
          <a:lstStyle/>
          <a:p>
            <a:r>
              <a:rPr lang="en-US" sz="7200" b="1" dirty="0"/>
              <a:t>Support Vector Machine (SVM)</a:t>
            </a:r>
            <a:r>
              <a:rPr lang="en-US" sz="7200" dirty="0"/>
              <a:t> is a supervised machine learning algorithm used for classification and regression tasks.</a:t>
            </a:r>
          </a:p>
          <a:p>
            <a:r>
              <a:rPr lang="en-US" sz="7200" dirty="0"/>
              <a:t>In this project, SVM is used to classify patients as </a:t>
            </a:r>
            <a:r>
              <a:rPr lang="en-US" sz="7200" b="1" dirty="0"/>
              <a:t>diabetic</a:t>
            </a:r>
            <a:r>
              <a:rPr lang="en-US" sz="7200" dirty="0"/>
              <a:t> or </a:t>
            </a:r>
            <a:r>
              <a:rPr lang="en-US" sz="7200" b="1" dirty="0"/>
              <a:t>non-diabetic</a:t>
            </a:r>
            <a:r>
              <a:rPr lang="en-US" sz="7200" dirty="0"/>
              <a:t> based on medical features.</a:t>
            </a:r>
          </a:p>
          <a:p>
            <a:r>
              <a:rPr lang="en-US" sz="7200" b="1" dirty="0"/>
              <a:t>Working Principle</a:t>
            </a:r>
          </a:p>
          <a:p>
            <a:r>
              <a:rPr lang="en-US" sz="7200" dirty="0"/>
              <a:t>SVM works by finding an </a:t>
            </a:r>
            <a:r>
              <a:rPr lang="en-US" sz="7200" b="1" dirty="0"/>
              <a:t>optimal hyperplane</a:t>
            </a:r>
            <a:r>
              <a:rPr lang="en-US" sz="7200" dirty="0"/>
              <a:t> that separates data points into different classes.</a:t>
            </a:r>
          </a:p>
          <a:p>
            <a:r>
              <a:rPr lang="en-US" sz="7200" dirty="0"/>
              <a:t>The goal is to maximize the </a:t>
            </a:r>
            <a:r>
              <a:rPr lang="en-US" sz="7200" b="1" dirty="0"/>
              <a:t>margin</a:t>
            </a:r>
            <a:r>
              <a:rPr lang="en-US" sz="7200" dirty="0"/>
              <a:t>, i.e., the distance between the hyperplane and the nearest data points (support vectors).</a:t>
            </a:r>
          </a:p>
          <a:p>
            <a:r>
              <a:rPr lang="en-US" sz="7200" dirty="0"/>
              <a:t>Only a subset of training data (support vectors) influences the model.</a:t>
            </a:r>
          </a:p>
          <a:p>
            <a:r>
              <a:rPr lang="en-IN" sz="7200" b="1" dirty="0"/>
              <a:t>Kernel Functions</a:t>
            </a:r>
          </a:p>
          <a:p>
            <a:r>
              <a:rPr lang="en-IN" sz="7200" dirty="0"/>
              <a:t>SVM uses kernel functions to handle non-linear data:</a:t>
            </a:r>
          </a:p>
          <a:p>
            <a:pPr lvl="1"/>
            <a:r>
              <a:rPr lang="en-IN" sz="7200" dirty="0"/>
              <a:t>Linear Kernel</a:t>
            </a:r>
          </a:p>
          <a:p>
            <a:pPr lvl="1"/>
            <a:r>
              <a:rPr lang="en-IN" sz="7200" dirty="0"/>
              <a:t>Polynomial Kernel</a:t>
            </a:r>
          </a:p>
          <a:p>
            <a:pPr lvl="1"/>
            <a:r>
              <a:rPr lang="en-IN" sz="7200" dirty="0"/>
              <a:t>Radial Basis Function (RBF) Kernel (commonly used)</a:t>
            </a:r>
          </a:p>
          <a:p>
            <a:endParaRPr lang="en-IN" dirty="0"/>
          </a:p>
        </p:txBody>
      </p:sp>
    </p:spTree>
    <p:extLst>
      <p:ext uri="{BB962C8B-B14F-4D97-AF65-F5344CB8AC3E}">
        <p14:creationId xmlns:p14="http://schemas.microsoft.com/office/powerpoint/2010/main" val="41679790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AE1E9C-3F13-8A09-00D0-AD322228BA79}"/>
              </a:ext>
            </a:extLst>
          </p:cNvPr>
          <p:cNvSpPr>
            <a:spLocks noGrp="1"/>
          </p:cNvSpPr>
          <p:nvPr>
            <p:ph idx="1"/>
          </p:nvPr>
        </p:nvSpPr>
        <p:spPr>
          <a:xfrm>
            <a:off x="655944" y="661012"/>
            <a:ext cx="8595360" cy="4351337"/>
          </a:xfrm>
        </p:spPr>
        <p:txBody>
          <a:bodyPr>
            <a:normAutofit fontScale="25000" lnSpcReduction="20000"/>
          </a:bodyPr>
          <a:lstStyle/>
          <a:p>
            <a:r>
              <a:rPr lang="en-US" sz="7200" b="1" dirty="0"/>
              <a:t>Why SVM for Diabetes Prediction?</a:t>
            </a:r>
          </a:p>
          <a:p>
            <a:r>
              <a:rPr lang="en-US" sz="7200" dirty="0"/>
              <a:t>Effective in </a:t>
            </a:r>
            <a:r>
              <a:rPr lang="en-US" sz="7200" b="1" dirty="0"/>
              <a:t>high-dimensional spaces</a:t>
            </a:r>
            <a:endParaRPr lang="en-US" sz="7200" dirty="0"/>
          </a:p>
          <a:p>
            <a:r>
              <a:rPr lang="en-US" sz="7200" dirty="0"/>
              <a:t>Works well with </a:t>
            </a:r>
            <a:r>
              <a:rPr lang="en-US" sz="7200" b="1" dirty="0"/>
              <a:t>small to medium-sized datasets</a:t>
            </a:r>
            <a:endParaRPr lang="en-US" sz="7200" dirty="0"/>
          </a:p>
          <a:p>
            <a:r>
              <a:rPr lang="en-US" sz="7200" dirty="0"/>
              <a:t>Handles </a:t>
            </a:r>
            <a:r>
              <a:rPr lang="en-US" sz="7200" b="1" dirty="0"/>
              <a:t>non-linear relationships</a:t>
            </a:r>
            <a:r>
              <a:rPr lang="en-US" sz="7200" dirty="0"/>
              <a:t> using kernels</a:t>
            </a:r>
          </a:p>
          <a:p>
            <a:r>
              <a:rPr lang="en-US" sz="7200" dirty="0"/>
              <a:t>Provides good </a:t>
            </a:r>
            <a:r>
              <a:rPr lang="en-US" sz="7200" b="1" dirty="0"/>
              <a:t>generalization performance</a:t>
            </a:r>
            <a:endParaRPr lang="en-US" sz="7200" dirty="0"/>
          </a:p>
          <a:p>
            <a:r>
              <a:rPr lang="en-IN" sz="7200" b="1" dirty="0"/>
              <a:t>Model Implementation Steps</a:t>
            </a:r>
          </a:p>
          <a:p>
            <a:r>
              <a:rPr lang="en-IN" sz="7200" dirty="0"/>
              <a:t>Input </a:t>
            </a:r>
            <a:r>
              <a:rPr lang="en-IN" sz="7200" dirty="0" err="1"/>
              <a:t>preprocessed</a:t>
            </a:r>
            <a:r>
              <a:rPr lang="en-IN" sz="7200" dirty="0"/>
              <a:t> dataset</a:t>
            </a:r>
          </a:p>
          <a:p>
            <a:r>
              <a:rPr lang="en-IN" sz="7200" dirty="0"/>
              <a:t>Select kernel function (e.g., RBF)</a:t>
            </a:r>
          </a:p>
          <a:p>
            <a:r>
              <a:rPr lang="en-IN" sz="7200" dirty="0"/>
              <a:t>Train SVM model on training data</a:t>
            </a:r>
          </a:p>
          <a:p>
            <a:r>
              <a:rPr lang="en-IN" sz="7200" dirty="0"/>
              <a:t>Tune hyperparameters (C, gamma)</a:t>
            </a:r>
          </a:p>
          <a:p>
            <a:r>
              <a:rPr lang="en-IN" sz="7200" dirty="0"/>
              <a:t>Test model on unseen data</a:t>
            </a:r>
          </a:p>
          <a:p>
            <a:endParaRPr lang="en-IN" dirty="0"/>
          </a:p>
        </p:txBody>
      </p:sp>
      <p:pic>
        <p:nvPicPr>
          <p:cNvPr id="5" name="Picture 4">
            <a:extLst>
              <a:ext uri="{FF2B5EF4-FFF2-40B4-BE49-F238E27FC236}">
                <a16:creationId xmlns:a16="http://schemas.microsoft.com/office/drawing/2014/main" id="{9FE2BC9E-EE5C-15BF-414D-F2A4AB1C3486}"/>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521985" y="1112867"/>
            <a:ext cx="4583017" cy="4230314"/>
          </a:xfrm>
          <a:prstGeom prst="rect">
            <a:avLst/>
          </a:prstGeom>
        </p:spPr>
      </p:pic>
    </p:spTree>
    <p:extLst>
      <p:ext uri="{BB962C8B-B14F-4D97-AF65-F5344CB8AC3E}">
        <p14:creationId xmlns:p14="http://schemas.microsoft.com/office/powerpoint/2010/main" val="872919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C7D93-848C-7C59-3F8C-067531F81732}"/>
              </a:ext>
            </a:extLst>
          </p:cNvPr>
          <p:cNvSpPr>
            <a:spLocks noGrp="1"/>
          </p:cNvSpPr>
          <p:nvPr>
            <p:ph type="title"/>
          </p:nvPr>
        </p:nvSpPr>
        <p:spPr>
          <a:xfrm>
            <a:off x="1237488" y="523302"/>
            <a:ext cx="9692640" cy="1325562"/>
          </a:xfrm>
        </p:spPr>
        <p:txBody>
          <a:bodyPr/>
          <a:lstStyle/>
          <a:p>
            <a:r>
              <a:rPr lang="en-IN" dirty="0"/>
              <a:t>RESULTS</a:t>
            </a:r>
          </a:p>
        </p:txBody>
      </p:sp>
      <p:sp>
        <p:nvSpPr>
          <p:cNvPr id="3" name="Text Placeholder 2">
            <a:extLst>
              <a:ext uri="{FF2B5EF4-FFF2-40B4-BE49-F238E27FC236}">
                <a16:creationId xmlns:a16="http://schemas.microsoft.com/office/drawing/2014/main" id="{413ADFCF-D20C-555D-825F-A03782CB19F0}"/>
              </a:ext>
            </a:extLst>
          </p:cNvPr>
          <p:cNvSpPr>
            <a:spLocks noGrp="1"/>
          </p:cNvSpPr>
          <p:nvPr>
            <p:ph type="body" idx="1"/>
          </p:nvPr>
        </p:nvSpPr>
        <p:spPr/>
        <p:txBody>
          <a:bodyPr/>
          <a:lstStyle/>
          <a:p>
            <a:r>
              <a:rPr lang="en-IN" dirty="0"/>
              <a:t>PREDICTIVE SYSTEM</a:t>
            </a:r>
          </a:p>
        </p:txBody>
      </p:sp>
      <p:pic>
        <p:nvPicPr>
          <p:cNvPr id="8" name="Content Placeholder 7">
            <a:extLst>
              <a:ext uri="{FF2B5EF4-FFF2-40B4-BE49-F238E27FC236}">
                <a16:creationId xmlns:a16="http://schemas.microsoft.com/office/drawing/2014/main" id="{8CE41EEE-6119-0870-3B0D-C154E0536FD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29659" y="2555913"/>
            <a:ext cx="5312330" cy="3778785"/>
          </a:xfrm>
          <a:prstGeom prst="rect">
            <a:avLst/>
          </a:prstGeom>
        </p:spPr>
      </p:pic>
      <p:sp>
        <p:nvSpPr>
          <p:cNvPr id="5" name="Text Placeholder 4">
            <a:extLst>
              <a:ext uri="{FF2B5EF4-FFF2-40B4-BE49-F238E27FC236}">
                <a16:creationId xmlns:a16="http://schemas.microsoft.com/office/drawing/2014/main" id="{DB9701B8-9BCC-9AF1-EE81-92C101529A3C}"/>
              </a:ext>
            </a:extLst>
          </p:cNvPr>
          <p:cNvSpPr>
            <a:spLocks noGrp="1"/>
          </p:cNvSpPr>
          <p:nvPr>
            <p:ph type="body" sz="quarter" idx="3"/>
          </p:nvPr>
        </p:nvSpPr>
        <p:spPr/>
        <p:txBody>
          <a:bodyPr/>
          <a:lstStyle/>
          <a:p>
            <a:r>
              <a:rPr lang="en-IN" dirty="0"/>
              <a:t>ACCURACY STORE</a:t>
            </a:r>
          </a:p>
        </p:txBody>
      </p:sp>
      <p:pic>
        <p:nvPicPr>
          <p:cNvPr id="10" name="Content Placeholder 9">
            <a:extLst>
              <a:ext uri="{FF2B5EF4-FFF2-40B4-BE49-F238E27FC236}">
                <a16:creationId xmlns:a16="http://schemas.microsoft.com/office/drawing/2014/main" id="{CB1D86E3-3E54-363F-E7E5-8849824DC679}"/>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126162" y="2555913"/>
            <a:ext cx="4828349" cy="3778785"/>
          </a:xfrm>
          <a:prstGeom prst="rect">
            <a:avLst/>
          </a:prstGeom>
        </p:spPr>
      </p:pic>
    </p:spTree>
    <p:extLst>
      <p:ext uri="{BB962C8B-B14F-4D97-AF65-F5344CB8AC3E}">
        <p14:creationId xmlns:p14="http://schemas.microsoft.com/office/powerpoint/2010/main" val="501193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A5BB0-8603-E8A6-36DC-4E334527F156}"/>
              </a:ext>
            </a:extLst>
          </p:cNvPr>
          <p:cNvSpPr>
            <a:spLocks noGrp="1"/>
          </p:cNvSpPr>
          <p:nvPr>
            <p:ph type="title"/>
          </p:nvPr>
        </p:nvSpPr>
        <p:spPr/>
        <p:txBody>
          <a:bodyPr/>
          <a:lstStyle/>
          <a:p>
            <a:r>
              <a:rPr lang="en-IN" dirty="0"/>
              <a:t>CONCLUSION</a:t>
            </a:r>
          </a:p>
        </p:txBody>
      </p:sp>
      <p:sp>
        <p:nvSpPr>
          <p:cNvPr id="4" name="Rectangle 1">
            <a:extLst>
              <a:ext uri="{FF2B5EF4-FFF2-40B4-BE49-F238E27FC236}">
                <a16:creationId xmlns:a16="http://schemas.microsoft.com/office/drawing/2014/main" id="{CD4C19AA-D72D-4772-4400-EC6DE15B434E}"/>
              </a:ext>
            </a:extLst>
          </p:cNvPr>
          <p:cNvSpPr>
            <a:spLocks noGrp="1" noChangeArrowheads="1"/>
          </p:cNvSpPr>
          <p:nvPr>
            <p:ph idx="1"/>
          </p:nvPr>
        </p:nvSpPr>
        <p:spPr bwMode="auto">
          <a:xfrm>
            <a:off x="1261872" y="1908126"/>
            <a:ext cx="9156033"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entury" panose="02040604050505020304" pitchFamily="18" charset="0"/>
              </a:rPr>
              <a:t>This project demonstrates the effective use of </a:t>
            </a:r>
            <a:r>
              <a:rPr kumimoji="0" lang="en-US" altLang="en-US" b="1" i="0" u="none" strike="noStrike" cap="none" normalizeH="0" baseline="0" dirty="0">
                <a:ln>
                  <a:noFill/>
                </a:ln>
                <a:solidFill>
                  <a:schemeClr val="tx1"/>
                </a:solidFill>
                <a:effectLst/>
                <a:latin typeface="Century" panose="02040604050505020304" pitchFamily="18" charset="0"/>
              </a:rPr>
              <a:t>Machine Learning techniques</a:t>
            </a:r>
            <a:r>
              <a:rPr kumimoji="0" lang="en-US" altLang="en-US" b="0" i="0" u="none" strike="noStrike" cap="none" normalizeH="0" baseline="0" dirty="0">
                <a:ln>
                  <a:noFill/>
                </a:ln>
                <a:solidFill>
                  <a:schemeClr val="tx1"/>
                </a:solidFill>
                <a:effectLst/>
                <a:latin typeface="Century" panose="02040604050505020304" pitchFamily="18" charset="0"/>
              </a:rPr>
              <a:t> for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entury" panose="02040604050505020304" pitchFamily="18" charset="0"/>
              </a:rPr>
              <a:t> predicting diabetes at an early stage.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entury" panose="02040604050505020304" pitchFamily="18" charset="0"/>
              </a:rPr>
              <a:t>By utilizing medical parameters such as glucose level, BMI, age, and insulin,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entury" panose="02040604050505020304" pitchFamily="18" charset="0"/>
              </a:rPr>
              <a:t>the model can accurately classify individuals as diabetic or non-diabetic.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entury" panose="02040604050505020304" pitchFamily="18" charset="0"/>
              </a:rPr>
              <a:t>The implementation of the </a:t>
            </a:r>
            <a:r>
              <a:rPr kumimoji="0" lang="en-US" altLang="en-US" b="1" i="0" u="none" strike="noStrike" cap="none" normalizeH="0" baseline="0" dirty="0">
                <a:ln>
                  <a:noFill/>
                </a:ln>
                <a:solidFill>
                  <a:schemeClr val="tx1"/>
                </a:solidFill>
                <a:effectLst/>
                <a:latin typeface="Century" panose="02040604050505020304" pitchFamily="18" charset="0"/>
              </a:rPr>
              <a:t>Support Vector Machine (SVM)</a:t>
            </a:r>
            <a:r>
              <a:rPr kumimoji="0" lang="en-US" altLang="en-US" b="0" i="0" u="none" strike="noStrike" cap="none" normalizeH="0" baseline="0" dirty="0">
                <a:ln>
                  <a:noFill/>
                </a:ln>
                <a:solidFill>
                  <a:schemeClr val="tx1"/>
                </a:solidFill>
                <a:effectLst/>
                <a:latin typeface="Century" panose="02040604050505020304" pitchFamily="18" charset="0"/>
              </a:rPr>
              <a:t> algorithm provides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entury" panose="02040604050505020304" pitchFamily="18" charset="0"/>
              </a:rPr>
              <a:t> reliable performance with good accuracy and generalization capability.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entury" panose="02040604050505020304" pitchFamily="18" charset="0"/>
              </a:rPr>
              <a:t>Proper data preprocessing, feature selection, and model optimization significantly</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Century" panose="02040604050505020304" pitchFamily="18" charset="0"/>
              </a:rPr>
              <a:t> improve prediction results.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entury" panose="02040604050505020304" pitchFamily="18" charset="0"/>
              </a:rPr>
              <a:t>The system can assist healthcare professionals in </a:t>
            </a:r>
            <a:r>
              <a:rPr kumimoji="0" lang="en-US" altLang="en-US" b="1" i="0" u="none" strike="noStrike" cap="none" normalizeH="0" baseline="0" dirty="0">
                <a:ln>
                  <a:noFill/>
                </a:ln>
                <a:solidFill>
                  <a:schemeClr val="tx1"/>
                </a:solidFill>
                <a:effectLst/>
                <a:latin typeface="Century" panose="02040604050505020304" pitchFamily="18" charset="0"/>
              </a:rPr>
              <a:t>early diagnosis and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entury" panose="02040604050505020304" pitchFamily="18" charset="0"/>
              </a:rPr>
              <a:t> decision-making</a:t>
            </a:r>
            <a:r>
              <a:rPr kumimoji="0" lang="en-US" altLang="en-US" b="0" i="0" u="none" strike="noStrike" cap="none" normalizeH="0" baseline="0" dirty="0">
                <a:ln>
                  <a:noFill/>
                </a:ln>
                <a:solidFill>
                  <a:schemeClr val="tx1"/>
                </a:solidFill>
                <a:effectLst/>
                <a:latin typeface="Century" panose="02040604050505020304" pitchFamily="18" charset="0"/>
              </a:rPr>
              <a:t>, reducing the risk of severe complications.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entury" panose="02040604050505020304" pitchFamily="18" charset="0"/>
              </a:rPr>
              <a:t>Overall, this approach highlights the potential of machine learning in </a:t>
            </a:r>
            <a:r>
              <a:rPr kumimoji="0" lang="en-US" altLang="en-US" b="1" i="0" u="none" strike="noStrike" cap="none" normalizeH="0" baseline="0" dirty="0">
                <a:ln>
                  <a:noFill/>
                </a:ln>
                <a:solidFill>
                  <a:schemeClr val="tx1"/>
                </a:solidFill>
                <a:effectLst/>
                <a:latin typeface="Century" panose="02040604050505020304" pitchFamily="18" charset="0"/>
              </a:rPr>
              <a:t>enhancing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entury" panose="02040604050505020304" pitchFamily="18" charset="0"/>
              </a:rPr>
              <a:t>healthcare systems</a:t>
            </a:r>
            <a:r>
              <a:rPr kumimoji="0" lang="en-US" altLang="en-US" b="0" i="0" u="none" strike="noStrike" cap="none" normalizeH="0" baseline="0" dirty="0">
                <a:ln>
                  <a:noFill/>
                </a:ln>
                <a:solidFill>
                  <a:schemeClr val="tx1"/>
                </a:solidFill>
                <a:effectLst/>
                <a:latin typeface="Century" panose="02040604050505020304" pitchFamily="18" charset="0"/>
              </a:rPr>
              <a:t> and promoting preventive care.</a:t>
            </a:r>
          </a:p>
        </p:txBody>
      </p:sp>
    </p:spTree>
    <p:extLst>
      <p:ext uri="{BB962C8B-B14F-4D97-AF65-F5344CB8AC3E}">
        <p14:creationId xmlns:p14="http://schemas.microsoft.com/office/powerpoint/2010/main" val="3465492528"/>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View</Template>
  <TotalTime>194</TotalTime>
  <Words>770</Words>
  <Application>Microsoft Office PowerPoint</Application>
  <PresentationFormat>Widescreen</PresentationFormat>
  <Paragraphs>107</Paragraphs>
  <Slides>10</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Arial</vt:lpstr>
      <vt:lpstr>Century</vt:lpstr>
      <vt:lpstr>Century Schoolbook</vt:lpstr>
      <vt:lpstr>Wingdings 2</vt:lpstr>
      <vt:lpstr>View</vt:lpstr>
      <vt:lpstr>DIABETES            PREDICTION USING MACHINE LEARNING  </vt:lpstr>
      <vt:lpstr>INTRODUCTION</vt:lpstr>
      <vt:lpstr>PROBLEM STATEMENT </vt:lpstr>
      <vt:lpstr>DATA PREPROCESSING</vt:lpstr>
      <vt:lpstr>METHODOLOGY</vt:lpstr>
      <vt:lpstr>PowerPoint Presentation</vt:lpstr>
      <vt:lpstr>MODEL USED </vt:lpstr>
      <vt:lpstr>PowerPoint Presentation</vt:lpstr>
      <vt:lpstr>RESULTS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ayesha raza</dc:creator>
  <cp:lastModifiedBy>ayesha raza</cp:lastModifiedBy>
  <cp:revision>1</cp:revision>
  <dcterms:created xsi:type="dcterms:W3CDTF">2026-03-19T19:02:49Z</dcterms:created>
  <dcterms:modified xsi:type="dcterms:W3CDTF">2026-03-19T22:17:40Z</dcterms:modified>
</cp:coreProperties>
</file>